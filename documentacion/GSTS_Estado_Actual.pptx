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3" r:id="rId15"/>
    <p:sldId id="274" r:id="rId16"/>
    <p:sldId id="267" r:id="rId18"/>
  </p:sldIdLst>
  <p:sldSz cx="12192000" cy="6858000"/>
  <p:notesSz cx="6858000" cy="12192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822A"/>
    <a:srgbClr val="3D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d431b908_8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2d431b908_8_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Relationship Id="rId9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GSTS — Ecosistema Digital SOAPAP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Integral de Constancias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No Adeudo y No Registro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Agosto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01 · ANTECEDENTES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contexto que da origen a este proyecto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Mandato institucional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Operador de los Servicios de Agua Potable y Alcantarillado del Municipio de Puebla tiene la facultad de validar si un predio tiene una cuenta sin adeudos, cumpliendo la normativa vigente.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constancia con alta demanda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Las constancias de no adeudo o no registro son solicitadas constantemente para notarías, trámites y procesos administrativos.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Obligación fiscal con el SAT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Toda facturación debe cumplir el estándar CFDI 4.0 vigente, lo que exige procesos de timbrado certificados y trazables.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Primer paso de una estrategia mayor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Este proyecto es el Módulo 1 del Ecosistema Digital SOAPAP: una plataforma diseñada para crecer, no para reconstruirse en cada necesidad.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02 · SITUACIÓN OPERATIVA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ya resolvimos, y lo que sigue pendiente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Validaciones externas manuales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trámite obliga a consultas manuales en el sistema comercial de Agua de Puebla y en el SII-Cart, sin un flujo sistematizado que las conecte al expediente.</a:t>
            </a:r>
            <a:r>
              <a:rPr lang="es-MX" sz="1250" dirty="0" err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Trazabilidad interna resuelta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sobre un trámite queda en bitácora auditada, con folio único e íntegro por hash. Falta que las validaciones externas alimenten ese mismo registro.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fiscal, aún no en producción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GAF y el worker de Timbrado Fiscal ya existen como sistemas independientes; falta resolver los puntos de integración con el PAC antes de timbrar en automático.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Evidencia centralizada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evidencia y documento generado se guarda en un almacén único con hash de integridad, referenciado siempre desde el trámite que lo originó.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548640" y="124214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SOLUCIÓN ESTRATÉGICA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592213"/>
            <a:ext cx="11064240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 sistema transaccional que automatiza el trámite de extremo a extremo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8640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1243584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26" name="Google Shape;12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6530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548640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514600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816352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0" name="Google Shape;130;p3"/>
          <p:cNvSpPr/>
          <p:nvPr/>
        </p:nvSpPr>
        <p:spPr>
          <a:xfrm>
            <a:off x="3511296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1" name="Google Shape;13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4242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2816352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782312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084064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5" name="Google Shape;135;p3"/>
          <p:cNvSpPr/>
          <p:nvPr/>
        </p:nvSpPr>
        <p:spPr>
          <a:xfrm>
            <a:off x="577900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6" name="Google Shape;136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1954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5084064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50024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351776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0" name="Google Shape;140;p3"/>
          <p:cNvSpPr/>
          <p:nvPr/>
        </p:nvSpPr>
        <p:spPr>
          <a:xfrm>
            <a:off x="8046720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1" name="Google Shape;14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9666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7351776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317736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619488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B8822A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5" name="Google Shape;145;p3"/>
          <p:cNvSpPr/>
          <p:nvPr/>
        </p:nvSpPr>
        <p:spPr>
          <a:xfrm>
            <a:off x="10314432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6" name="Google Shape;14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378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9619488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Entrega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48640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9" name="Google Shape;149;p3"/>
          <p:cNvSpPr/>
          <p:nvPr/>
        </p:nvSpPr>
        <p:spPr>
          <a:xfrm>
            <a:off x="822960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0" name="Google Shape;15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031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/>
          <p:nvPr/>
        </p:nvSpPr>
        <p:spPr>
          <a:xfrm>
            <a:off x="1554480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 y emisión ágiles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41248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guía cada trámite con requisitos definidos, agilizando la emisión de constancias para ciudadanos registrados y no registrados.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344924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4" name="Google Shape;154;p3"/>
          <p:cNvSpPr/>
          <p:nvPr/>
        </p:nvSpPr>
        <p:spPr>
          <a:xfrm>
            <a:off x="4619244" y="4083525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5" name="Google Shape;155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2315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5350764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Conectado con Facturación y Timbrado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637532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Al finalizar, el trámite queda listo para que el sistema de Facturación (GAF) y el Timbrado Fiscal continúen el proceso, sin volver a capturar nada.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110728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9" name="Google Shape;159;p3"/>
          <p:cNvSpPr/>
          <p:nvPr/>
        </p:nvSpPr>
        <p:spPr>
          <a:xfrm>
            <a:off x="8385048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0" name="Google Shape;160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38119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/>
          <p:nvPr/>
        </p:nvSpPr>
        <p:spPr>
          <a:xfrm>
            <a:off x="9116568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Flujo auditable de punta a punta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403336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y decisión queda registrada, garantizando transparencia, control y respaldo para las auditorías.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04 · VISIÓN DE ECOSISTEMA Y ESCALABILIDAD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primer módulo de una plataforma que crece sin reconstruirse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400800" y="2235197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400"/>
              <a:buFont typeface="Montserrat"/>
              <a:buNone/>
            </a:pPr>
            <a:r>
              <a:rPr lang="es-MX" sz="140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Módulos del ecosistema</a:t>
            </a:r>
            <a:endParaRPr lang="es-MX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0" y="2692397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2" name="Google Shape;172;p4"/>
          <p:cNvSpPr/>
          <p:nvPr/>
        </p:nvSpPr>
        <p:spPr>
          <a:xfrm>
            <a:off x="6656832" y="2893565"/>
            <a:ext cx="512064" cy="51206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5089" y="3031822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7315200" y="2747261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s-MX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GSTS — Constancias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DCE3"/>
              </a:buClr>
              <a:buSzPts val="1100"/>
              <a:buFont typeface="Montserrat"/>
              <a:buNone/>
            </a:pPr>
            <a:r>
              <a:rPr lang="es-MX" sz="1100" dirty="0">
                <a:solidFill>
                  <a:srgbClr val="F0DCE3"/>
                </a:solidFill>
                <a:latin typeface="Montserrat"/>
                <a:ea typeface="Montserrat"/>
                <a:cs typeface="Montserrat"/>
                <a:sym typeface="Montserrat"/>
              </a:rPr>
              <a:t>El módulo más avanzado del ecosistema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00800" y="3835397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6" name="Google Shape;176;p4"/>
          <p:cNvSpPr/>
          <p:nvPr/>
        </p:nvSpPr>
        <p:spPr>
          <a:xfrm>
            <a:off x="6656832" y="3954269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7" name="Google Shape;1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082651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7269480" y="3835397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GAF — Facturación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00800" y="4676645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0" name="Google Shape;180;p4"/>
          <p:cNvSpPr/>
          <p:nvPr/>
        </p:nvSpPr>
        <p:spPr>
          <a:xfrm>
            <a:off x="6656832" y="4795517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1" name="Google Shape;18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923899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7269480" y="4676645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SOAPAP Correspondencia (Gestión oficios entrantes)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0" y="5517893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4" name="Google Shape;184;p4"/>
          <p:cNvSpPr/>
          <p:nvPr/>
        </p:nvSpPr>
        <p:spPr>
          <a:xfrm>
            <a:off x="6656832" y="5636765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5765147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269480" y="5517893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Próximos módulos por área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0" y="6377429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Reutilizan las fundaciones — no se reconstruyen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76349" y="2235197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9" name="Google Shape;189;p4"/>
          <p:cNvSpPr/>
          <p:nvPr/>
        </p:nvSpPr>
        <p:spPr>
          <a:xfrm>
            <a:off x="896389" y="2463797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Fundaciones compartidas</a:t>
            </a:r>
            <a:endParaRPr lang="es-MX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96389" y="2856989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Construidas una sola vez; cada módulo nuevo las reutiliza.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8957" y="3332477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2" name="Google Shape;1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401" y="345592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454173" y="330504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Una plataforma que crece por módulos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454173" y="3579365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nuevo módulo aprovecha la infraestructura existente, reduciendo  tiempos de implementación. </a:t>
            </a:r>
            <a:endParaRPr lang="es-MX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868957" y="3954269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6" name="Google Shape;1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401" y="4077713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454173" y="3926837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Acceso único a la plataforma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54173" y="4201157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Los usuarios ingresan una sola vez para acceder de forma segura a todos los módulos autorizados.</a:t>
            </a:r>
          </a:p>
        </p:txBody>
      </p:sp>
      <p:sp>
        <p:nvSpPr>
          <p:cNvPr id="199" name="Google Shape;199;p4"/>
          <p:cNvSpPr/>
          <p:nvPr/>
        </p:nvSpPr>
        <p:spPr>
          <a:xfrm>
            <a:off x="868957" y="4576061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0" name="Google Shape;20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401" y="4699505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1454173" y="4548629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Sistema de diseño compartido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454173" y="482294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Todos los módulos comparten la misma imagen y forma de operar, facilitando su uso y fortaleciendo la identidad institucional. 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68957" y="5197853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4" name="Google Shape;20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401" y="5321297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454173" y="5170421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Control de acceso y auditoría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454173" y="5444741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Una administración centralizada de permisos y registro de actividades en toda la plataforma.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868957" y="5819645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8" name="Google Shape;20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401" y="5943089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1454173" y="5792213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Integridad verificable por diseño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454173" y="6066533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documento tiene folio único, hash de integridad y reglas que impiden alterarlo una vez emitido.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2d431b908_8_14"/>
          <p:cNvSpPr/>
          <p:nvPr/>
        </p:nvSpPr>
        <p:spPr>
          <a:xfrm>
            <a:off x="548640" y="1233787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05 · ¿CÓMO FUNCIONA LA PLATAFORMA?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" y="1508108"/>
            <a:ext cx="6255025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Así viaja un trámite, paso a paso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950000" y="2879324"/>
            <a:ext cx="10291998" cy="25400"/>
          </a:xfrm>
          <a:prstGeom prst="rect">
            <a:avLst/>
          </a:prstGeom>
          <a:solidFill>
            <a:srgbClr val="E6E1E3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1" name="Google Shape;401;p5"/>
          <p:cNvSpPr/>
          <p:nvPr/>
        </p:nvSpPr>
        <p:spPr>
          <a:xfrm>
            <a:off x="1657666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3372999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5088332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"/>
          <p:cNvSpPr/>
          <p:nvPr/>
        </p:nvSpPr>
        <p:spPr>
          <a:xfrm>
            <a:off x="6803665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8518998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10234331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648247" y="2600768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08" name="Google Shape;40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94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"/>
          <p:cNvSpPr/>
          <p:nvPr/>
        </p:nvSpPr>
        <p:spPr>
          <a:xfrm>
            <a:off x="125000" y="3253775"/>
            <a:ext cx="1650000" cy="44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Solicitud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Ciudadano</a:t>
            </a:r>
            <a:endParaRPr lang="es-MX" sz="900" dirty="0">
              <a:solidFill>
                <a:srgbClr val="B882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150000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Solicita su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2363581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2" name="Google Shape;41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6527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"/>
          <p:cNvSpPr/>
          <p:nvPr/>
        </p:nvSpPr>
        <p:spPr>
          <a:xfrm>
            <a:off x="1840333" y="3253775"/>
            <a:ext cx="1650000" cy="73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14" name="Google Shape;414;p5"/>
          <p:cNvSpPr/>
          <p:nvPr/>
        </p:nvSpPr>
        <p:spPr>
          <a:xfrm>
            <a:off x="1865333" y="4151654"/>
            <a:ext cx="1600000" cy="43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Llena datos y se anexan documentos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4078914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6" name="Google Shape;41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1860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"/>
          <p:cNvSpPr/>
          <p:nvPr/>
        </p:nvSpPr>
        <p:spPr>
          <a:xfrm>
            <a:off x="3555666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3580666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operador revisa requisitos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5794247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0" name="Google Shape;42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7193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"/>
          <p:cNvSpPr/>
          <p:nvPr/>
        </p:nvSpPr>
        <p:spPr>
          <a:xfrm>
            <a:off x="5270999" y="3253776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5295999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autoriza el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09580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4" name="Google Shape;424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2526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"/>
          <p:cNvSpPr/>
          <p:nvPr/>
        </p:nvSpPr>
        <p:spPr>
          <a:xfrm>
            <a:off x="6986332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26" name="Google Shape;426;p5"/>
          <p:cNvSpPr/>
          <p:nvPr/>
        </p:nvSpPr>
        <p:spPr>
          <a:xfrm>
            <a:off x="7011332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valida pago y se entrega constancia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9224913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8" name="Google Shape;428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87859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/>
          <p:nvPr/>
        </p:nvSpPr>
        <p:spPr>
          <a:xfrm>
            <a:off x="8701665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8726665" y="4151654"/>
            <a:ext cx="16000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Si el usuario solicita factura, GAF crea la solicitud y el worker de Timbrado la certifica ante el PAC — en proceso de puesta en producción.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10940246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32" name="Google Shape;432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03192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"/>
          <p:cNvSpPr/>
          <p:nvPr/>
        </p:nvSpPr>
        <p:spPr>
          <a:xfrm>
            <a:off x="10416998" y="3253775"/>
            <a:ext cx="1650000" cy="63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Entrega y verificación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Calibri"/>
                <a:cs typeface="Calibri"/>
                <a:sym typeface="Montserrat"/>
              </a:rPr>
              <a:t/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10441998" y="4151654"/>
            <a:ext cx="1600000" cy="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 constancia se entrega en ventanilla con folio y QR listos para verificar; el portal público de autoservicio está planeado para la siguiente fase.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687445" y="5378947"/>
            <a:ext cx="1109472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3D0017"/>
                </a:solidFill>
                <a:latin typeface="Calibri"/>
                <a:ea typeface="Calibri"/>
                <a:cs typeface="Calibri"/>
                <a:sym typeface="Calibri"/>
              </a:rPr>
              <a:t>Cada trámite sigue siempre esta misma ruta: clara, ordenada y de principio a fin.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548640" y="11676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06 · IMPACTO DIRECTO AL CIUDADANO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48640" y="136956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Trámite más rápido, transparente y con autoservicio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4864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25" name="Google Shape;225;p5"/>
          <p:cNvSpPr/>
          <p:nvPr/>
        </p:nvSpPr>
        <p:spPr>
          <a:xfrm>
            <a:off x="822960" y="2316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26" name="Google Shape;22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155448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Atención más ágil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84124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Validación y emisión en una sola visita a ventanilla, sin esperar procesos manuales de terceros.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21792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0" name="Google Shape;230;p5"/>
          <p:cNvSpPr/>
          <p:nvPr/>
        </p:nvSpPr>
        <p:spPr>
          <a:xfrm>
            <a:off x="6492240" y="2316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1" name="Google Shape;23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/>
          <p:nvPr/>
        </p:nvSpPr>
        <p:spPr>
          <a:xfrm>
            <a:off x="722376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Autoservicio, en camino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51052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folio y código QR de cada constancia ya están listos para verificarse; el portal público de descarga de CFDI es el siguiente paso planeado.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54864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5" name="Google Shape;235;p5"/>
          <p:cNvSpPr/>
          <p:nvPr/>
        </p:nvSpPr>
        <p:spPr>
          <a:xfrm>
            <a:off x="822960" y="4602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6" name="Google Shape;23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/>
          <p:nvPr/>
        </p:nvSpPr>
        <p:spPr>
          <a:xfrm>
            <a:off x="155448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Verificación inmediata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4124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constancia lleva folio y código QR que confirman su autenticidad y vigencia al instante.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21792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40" name="Google Shape;240;p5"/>
          <p:cNvSpPr/>
          <p:nvPr/>
        </p:nvSpPr>
        <p:spPr>
          <a:xfrm>
            <a:off x="6492240" y="4602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41" name="Google Shape;24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722376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Transparencia y certeza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51052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Documentos oficiales verificables y facturación electrónica conforme a la normativa del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548640" y="12337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07 · SEGURIDAD Y AUDITORÍA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15081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Cinco garantías frente a cualquier auditoría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548640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2" name="Google Shape;352;p6"/>
          <p:cNvSpPr/>
          <p:nvPr/>
        </p:nvSpPr>
        <p:spPr>
          <a:xfrm>
            <a:off x="822960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3" name="Google Shape;35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"/>
          <p:cNvSpPr/>
          <p:nvPr/>
        </p:nvSpPr>
        <p:spPr>
          <a:xfrm>
            <a:off x="1554480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Nada se pierde, nada se evade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41248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queda registrada para siempre y ninguna operación puede tocar la base de datos sin pasar por el sistema.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4416552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7" name="Google Shape;357;p6"/>
          <p:cNvSpPr/>
          <p:nvPr/>
        </p:nvSpPr>
        <p:spPr>
          <a:xfrm>
            <a:off x="4690872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8" name="Google Shape;35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"/>
          <p:cNvSpPr/>
          <p:nvPr/>
        </p:nvSpPr>
        <p:spPr>
          <a:xfrm>
            <a:off x="5422392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Documentos siempre disponibles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709160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Facturas y constancias se conservan listas para cualquier revisión, durante el tiempo que exige 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8284464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2" name="Google Shape;362;p6"/>
          <p:cNvSpPr/>
          <p:nvPr/>
        </p:nvSpPr>
        <p:spPr>
          <a:xfrm>
            <a:off x="8558784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3" name="Google Shape;36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9290304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Autenticidad verificable al instante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8577072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Cualquier persona confirma en segundos que un documento es legítimo, sin exponer nuestra red interna.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2482596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7" name="Google Shape;367;p6"/>
          <p:cNvSpPr/>
          <p:nvPr/>
        </p:nvSpPr>
        <p:spPr>
          <a:xfrm>
            <a:off x="2756916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8" name="Google Shape;368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09987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"/>
          <p:cNvSpPr/>
          <p:nvPr/>
        </p:nvSpPr>
        <p:spPr>
          <a:xfrm>
            <a:off x="3488436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Acceso bajo control total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2775204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usuario entra una sola vez y solo hace lo que su rol permite; sabemos siempre quién hizo qué.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6350508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2" name="Google Shape;372;p6"/>
          <p:cNvSpPr/>
          <p:nvPr/>
        </p:nvSpPr>
        <p:spPr>
          <a:xfrm>
            <a:off x="6624828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3" name="Google Shape;373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7899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7356348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Integridad garantizada por hash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6643116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documento lleva un hash de integridad y reglas que impiden alterarlo una vez emitido, incluso con acceso directo a la base de datos.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08 · INDICADORES DE DESEMPEÑO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mediremos en tiempo real para Dirección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Volumen de constancias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Emitidas por periodo (registrados vs. no registrados).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Tiempo de atención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Desde la captura hasta la resolución en ventanilla.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Éxito de timbrado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Timbrado automatizado vs. errores de facturación.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Vencidos sin pago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aprobados que expiran en el plazo de pago.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Consultas a la concesionaria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que requirieron apoyo externo.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Reducción de costo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Porcentaje de constancias con descuento aplicado.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400776"/>
            <a:ext cx="2258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1 de 5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646721"/>
            <a:ext cx="254736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 y Validación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46720"/>
            <a:ext cx="2258568" cy="24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Interfaz de Ventanilla — en operación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5468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3 de 5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74680"/>
            <a:ext cx="202996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3920360"/>
            <a:ext cx="230428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Interfaz de Ventanilla — en operación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108325"/>
            <a:ext cx="8666572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294464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4 de 5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172642"/>
            <a:ext cx="2221992" cy="51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3685358"/>
            <a:ext cx="2432304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Interfaz de Ventanilla — en operación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829" y="1233788"/>
            <a:ext cx="4882531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2" y="3429000"/>
            <a:ext cx="2276856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Diseño de interfaz — Timbrado en desarrollo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E13CC6-42BE-4B29-9E39-B64F93DA1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3" y="1145969"/>
            <a:ext cx="6517476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F39CD7-5907-404D-B13A-F2E3F608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77" y="1145969"/>
            <a:ext cx="2666082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2580513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Descarga de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Diseño de interfaz — planeado para el portal público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3313B5-C07A-46C2-9D64-A4D153666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96" r="13239"/>
          <a:stretch/>
        </p:blipFill>
        <p:spPr>
          <a:xfrm>
            <a:off x="4401312" y="1173770"/>
            <a:ext cx="6400800" cy="537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3513964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Validador de constancias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Diseño de interfaz — planeado para el portal público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/>
          <p:nvPr/>
        </p:nvSpPr>
        <p:spPr>
          <a:xfrm>
            <a:off x="548640" y="115065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10 · PREGUNTAS ABIERTAS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48640" y="1424974"/>
            <a:ext cx="11064240" cy="36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aún está por resolver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48640" y="196915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8" name="Google Shape;378;p11"/>
          <p:cNvSpPr/>
          <p:nvPr/>
        </p:nvSpPr>
        <p:spPr>
          <a:xfrm>
            <a:off x="777240" y="2097167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9" name="Google Shape;37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808" y="221073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1371600" y="196915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Modelo de sellado con el PAC — quedan puntos de integración por resolver (formatos, límites de cancelación) antes de timbrar en producción.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8686800" y="214288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2" name="Google Shape;382;p11"/>
          <p:cNvSpPr/>
          <p:nvPr/>
        </p:nvSpPr>
        <p:spPr>
          <a:xfrm>
            <a:off x="8686800" y="214288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Factura Inteligente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48640" y="2773823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4" name="Google Shape;384;p11"/>
          <p:cNvSpPr/>
          <p:nvPr/>
        </p:nvSpPr>
        <p:spPr>
          <a:xfrm>
            <a:off x="777240" y="2901839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85" name="Google Shape;38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808" y="3015407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1371600" y="2773823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Automatización de la validación de no adeudo con el sistema comercial de Agua de Puebla — hoy esa consulta se hace de forma manual.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8686800" y="2947559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8" name="Google Shape;388;p11"/>
          <p:cNvSpPr/>
          <p:nvPr/>
        </p:nvSpPr>
        <p:spPr>
          <a:xfrm>
            <a:off x="8686800" y="294755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Agua de Puebla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48640" y="3578495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0" name="Google Shape;390;p11"/>
          <p:cNvSpPr/>
          <p:nvPr/>
        </p:nvSpPr>
        <p:spPr>
          <a:xfrm>
            <a:off x="777240" y="3706511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1" name="Google Shape;39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808" y="3820079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/>
          <p:nvPr/>
        </p:nvSpPr>
        <p:spPr>
          <a:xfrm>
            <a:off x="1371600" y="3578495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 err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Plantilla legal de la constancia de No Adeudo — pendiente del texto legal para poder generarla de forma automática.</a:t>
            </a: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8686800" y="3752231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4" name="Google Shape;394;p11"/>
          <p:cNvSpPr/>
          <p:nvPr/>
        </p:nvSpPr>
        <p:spPr>
          <a:xfrm>
            <a:off x="8686800" y="3752231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Jurídico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48640" y="4383167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6" name="Google Shape;396;p11"/>
          <p:cNvSpPr/>
          <p:nvPr/>
        </p:nvSpPr>
        <p:spPr>
          <a:xfrm>
            <a:off x="777240" y="4511183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7" name="Google Shape;397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808" y="4624751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1"/>
          <p:cNvSpPr/>
          <p:nvPr/>
        </p:nvSpPr>
        <p:spPr>
          <a:xfrm>
            <a:off x="1371600" y="4383167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¿Se reincorpora el Servicio de Firma electrónica? De ser así, hay que decidir qué pasa con las constancias ya emitidas sin firma.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8686800" y="4556903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0" name="Google Shape;400;p11"/>
          <p:cNvSpPr/>
          <p:nvPr/>
        </p:nvSpPr>
        <p:spPr>
          <a:xfrm>
            <a:off x="8686800" y="4556903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Jurídico · Dirección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548640" y="5187839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2" name="Google Shape;402;p11"/>
          <p:cNvSpPr/>
          <p:nvPr/>
        </p:nvSpPr>
        <p:spPr>
          <a:xfrm>
            <a:off x="777240" y="5315855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3" name="Google Shape;40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808" y="5429423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1371600" y="5187839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¿Se reintroduce la Facturación global? Depende de definir de dónde vendría la lista de pagos no solicitados que la alimentaría.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686800" y="5361575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6" name="Google Shape;406;p11"/>
          <p:cNvSpPr/>
          <p:nvPr/>
        </p:nvSpPr>
        <p:spPr>
          <a:xfrm>
            <a:off x="8686800" y="5361575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y Finanzas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48640" y="599251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8" name="Google Shape;408;p11"/>
          <p:cNvSpPr/>
          <p:nvPr/>
        </p:nvSpPr>
        <p:spPr>
          <a:xfrm>
            <a:off x="777240" y="6120527"/>
            <a:ext cx="420624" cy="42062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9" name="Google Shape;409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0808" y="623409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1"/>
          <p:cNvSpPr/>
          <p:nvPr/>
        </p:nvSpPr>
        <p:spPr>
          <a:xfrm>
            <a:off x="1371600" y="599251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Portal público de verificación y descarga — es la puerta de autoservicio para el ciudadano; falta priorizar su construcción.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8686800" y="616624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12" name="Google Shape;412;p11"/>
          <p:cNvSpPr/>
          <p:nvPr/>
        </p:nvSpPr>
        <p:spPr>
          <a:xfrm>
            <a:off x="8686800" y="616624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Supervisión Comercial y Atención Ciudadana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1207</Words>
  <Application>Microsoft Office PowerPoint</Application>
  <PresentationFormat>Panorámica</PresentationFormat>
  <Paragraphs>191</Paragraphs>
  <Slides>17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Montserrat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18</cp:revision>
  <dcterms:created xsi:type="dcterms:W3CDTF">2026-06-29T07:33:55Z</dcterms:created>
  <dcterms:modified xsi:type="dcterms:W3CDTF">2026-07-10T18:33:59Z</dcterms:modified>
</cp:coreProperties>
</file>