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3" r:id="rId15"/>
    <p:sldId id="274" r:id="rId16"/>
    <p:sldId id="267" r:id="rId18"/>
  </p:sldIdLst>
  <p:sldSz cx="12192000" cy="6858000"/>
  <p:notesSz cx="6858000" cy="12192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822A"/>
    <a:srgbClr val="3D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2d431b908_8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2d431b908_8_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Relationship Id="rId9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9.png"/><Relationship Id="rId8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GSTS — Ecosistema Digital SOAPAP</a:t>
            </a: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endParaRPr lang="es-MX" sz="3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 Integral de Constancias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No Adeudo y No Registro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Agosto 2026</a:t>
            </a:r>
            <a:endParaRPr lang="es-MX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01 · ANTECEDENTES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contexto que da origen a este proyecto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Mandato institucional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Operador de los Servicios de Agua Potable y Alcantarillado del Municipio de Puebla tiene la facultad de validar si un predio tiene una cuenta sin adeudos, cumpliendo la normativa vigente.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Una constancia con alta demanda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Las constancias de no adeudo y no registro son solicitadas constantemente para notarías, trámites y procesos administrativos.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Obligación fiscal con el SAT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Toda facturación debe cumplir el estándar CFDI 4.0 vigente, lo que exige procesos de timbrado certificados y trazables.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Primer paso de una estrategia mayor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Este proyecto es el Módulo 1 del Ecosistema Digital SOAPAP: una plataforma diseñada para crecer, no para reconstruirse en cada necesidad.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548640" y="1269561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02 · SITUACIÓN OPERATIVA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48640" y="1461585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ya resolvimos, y lo que sigue pendiente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4864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98" name="Google Shape;98;p2"/>
          <p:cNvSpPr/>
          <p:nvPr/>
        </p:nvSpPr>
        <p:spPr>
          <a:xfrm>
            <a:off x="82296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99" name="Google Shape;9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155448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Validaciones externas manuales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4124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trámite obliga a consultas manuales en el sistema comercial de Agua de Puebla y en el SII-Cart, sin un flujo sistematizado que las conecte al expediente.</a:t>
            </a:r>
            <a:r>
              <a:rPr lang="es-MX" sz="1250" dirty="0" err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7920" y="2189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3" name="Google Shape;103;p2"/>
          <p:cNvSpPr/>
          <p:nvPr/>
        </p:nvSpPr>
        <p:spPr>
          <a:xfrm>
            <a:off x="6492240" y="2463803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4" name="Google Shape;10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616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7223760" y="2463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Trazabilidad interna resuelta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10528" y="3140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sobre un trámite queda en bitácora auditada, con folio único e íntegro por hash. Falta que las validaciones externas alimenten ese mismo registro.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08" name="Google Shape;108;p2"/>
          <p:cNvSpPr/>
          <p:nvPr/>
        </p:nvSpPr>
        <p:spPr>
          <a:xfrm>
            <a:off x="82296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09" name="Google Shape;109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55448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fiscal, aún no en producción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84124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GAF y el worker de Timbrado Fiscal ya existen como sistemas independientes; falta resolver los puntos de integración con el PAC antes de timbrar en automático.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17920" y="447548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13" name="Google Shape;113;p2"/>
          <p:cNvSpPr/>
          <p:nvPr/>
        </p:nvSpPr>
        <p:spPr>
          <a:xfrm>
            <a:off x="6492240" y="4749803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14" name="Google Shape;114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902874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/>
          <p:nvPr/>
        </p:nvSpPr>
        <p:spPr>
          <a:xfrm>
            <a:off x="7223760" y="4749803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Evidencia centralizada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510528" y="5426459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evidencia y documento generado se guarda en un almacén único con hash de integridad, referenciado siempre desde el trámite que lo originó.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548640" y="124214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SOLUCIÓN ESTRATÉGICA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592213"/>
            <a:ext cx="11064240" cy="42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000"/>
              <a:buFont typeface="Montserrat"/>
              <a:buNone/>
            </a:pPr>
            <a:r>
              <a:rPr lang="es-MX" sz="20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Un sistema transaccional que digitaliza, organiza y da trazabilidad al trámite de principio a fin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48640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49" name="Google Shape;149;p3"/>
          <p:cNvSpPr/>
          <p:nvPr/>
        </p:nvSpPr>
        <p:spPr>
          <a:xfrm>
            <a:off x="822960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0" name="Google Shape;150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031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/>
          <p:nvPr/>
        </p:nvSpPr>
        <p:spPr>
          <a:xfrm>
            <a:off x="1554480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 y emisión ágiles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41248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guía cada trámite con requisitos definidos, agilizando la emisión de constancias para ciudadanos registrados y no registrados.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344924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4" name="Google Shape;154;p3"/>
          <p:cNvSpPr/>
          <p:nvPr/>
        </p:nvSpPr>
        <p:spPr>
          <a:xfrm>
            <a:off x="4619244" y="4083525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55" name="Google Shape;155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2315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"/>
          <p:cNvSpPr/>
          <p:nvPr/>
        </p:nvSpPr>
        <p:spPr>
          <a:xfrm>
            <a:off x="5350764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Conectado con Facturación y Timbrado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637532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Al finalizar, el trámite queda listo para que el sistema de Facturación (GAF) y el Timbrado Fiscal continúen el proceso, sin volver a capturar nada. La integración productiva con el PAC sigue en desarrollo.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8110728" y="3809205"/>
            <a:ext cx="35021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59" name="Google Shape;159;p3"/>
          <p:cNvSpPr/>
          <p:nvPr/>
        </p:nvSpPr>
        <p:spPr>
          <a:xfrm>
            <a:off x="8385048" y="4083525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0" name="Google Shape;160;p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38119" y="4236596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/>
          <p:nvPr/>
        </p:nvSpPr>
        <p:spPr>
          <a:xfrm>
            <a:off x="9116568" y="4083525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Flujo auditable de punta a punta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403336" y="4760181"/>
            <a:ext cx="2916936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y decisión queda registrada, garantizando transparencia, control y respaldo para las auditorías. 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48640" y="2197789"/>
            <a:ext cx="1354960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92436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7314" y="2580191"/>
            <a:ext cx="277612" cy="277612"/>
          </a:xfrm>
          <a:prstGeom prst="rect">
            <a:avLst/>
          </a:prstGeom>
        </p:spPr>
      </p:pic>
      <p:sp>
        <p:nvSpPr>
          <p:cNvPr id="127" name="Google Shape;127;p3"/>
          <p:cNvSpPr/>
          <p:nvPr/>
        </p:nvSpPr>
        <p:spPr>
          <a:xfrm>
            <a:off x="548640" y="3066469"/>
            <a:ext cx="135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Solicitud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903600" y="2517829"/>
            <a:ext cx="2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133600" y="2197789"/>
            <a:ext cx="1354960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250932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274" y="2580191"/>
            <a:ext cx="277612" cy="277612"/>
          </a:xfrm>
          <a:prstGeom prst="rect">
            <a:avLst/>
          </a:prstGeom>
        </p:spPr>
      </p:pic>
      <p:sp>
        <p:nvSpPr>
          <p:cNvPr id="127" name="Google Shape;127;p3"/>
          <p:cNvSpPr/>
          <p:nvPr/>
        </p:nvSpPr>
        <p:spPr>
          <a:xfrm>
            <a:off x="2133600" y="3066469"/>
            <a:ext cx="135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488560" y="2517829"/>
            <a:ext cx="2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718560" y="2197789"/>
            <a:ext cx="1354960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409428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234" y="2580191"/>
            <a:ext cx="277612" cy="277612"/>
          </a:xfrm>
          <a:prstGeom prst="rect">
            <a:avLst/>
          </a:prstGeom>
        </p:spPr>
      </p:pic>
      <p:sp>
        <p:nvSpPr>
          <p:cNvPr id="127" name="Google Shape;127;p3"/>
          <p:cNvSpPr/>
          <p:nvPr/>
        </p:nvSpPr>
        <p:spPr>
          <a:xfrm>
            <a:off x="3718560" y="3066469"/>
            <a:ext cx="135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073520" y="2517829"/>
            <a:ext cx="2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303520" y="2197789"/>
            <a:ext cx="1354960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567924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194" y="2580191"/>
            <a:ext cx="277612" cy="277612"/>
          </a:xfrm>
          <a:prstGeom prst="rect">
            <a:avLst/>
          </a:prstGeom>
        </p:spPr>
      </p:pic>
      <p:sp>
        <p:nvSpPr>
          <p:cNvPr id="127" name="Google Shape;127;p3"/>
          <p:cNvSpPr/>
          <p:nvPr/>
        </p:nvSpPr>
        <p:spPr>
          <a:xfrm>
            <a:off x="5303520" y="3066469"/>
            <a:ext cx="135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658480" y="2517829"/>
            <a:ext cx="2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888480" y="2197789"/>
            <a:ext cx="1354960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726420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7154" y="2580191"/>
            <a:ext cx="277612" cy="277612"/>
          </a:xfrm>
          <a:prstGeom prst="rect">
            <a:avLst/>
          </a:prstGeom>
        </p:spPr>
      </p:pic>
      <p:sp>
        <p:nvSpPr>
          <p:cNvPr id="127" name="Google Shape;127;p3"/>
          <p:cNvSpPr/>
          <p:nvPr/>
        </p:nvSpPr>
        <p:spPr>
          <a:xfrm>
            <a:off x="6888480" y="3066469"/>
            <a:ext cx="135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Cobro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243440" y="2517829"/>
            <a:ext cx="2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473440" y="2197789"/>
            <a:ext cx="1354960" cy="1371600"/>
          </a:xfrm>
          <a:prstGeom prst="roundRect">
            <a:avLst>
              <a:gd name="adj" fmla="val 5333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884916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2114" y="2580191"/>
            <a:ext cx="277612" cy="277612"/>
          </a:xfrm>
          <a:prstGeom prst="rect">
            <a:avLst/>
          </a:prstGeom>
        </p:spPr>
      </p:pic>
      <p:sp>
        <p:nvSpPr>
          <p:cNvPr id="127" name="Google Shape;127;p3"/>
          <p:cNvSpPr/>
          <p:nvPr/>
        </p:nvSpPr>
        <p:spPr>
          <a:xfrm>
            <a:off x="8473440" y="3066469"/>
            <a:ext cx="135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Emisión y entrega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9828400" y="2517829"/>
            <a:ext cx="230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0058400" y="2197789"/>
            <a:ext cx="1354960" cy="1371600"/>
          </a:xfrm>
          <a:prstGeom prst="roundRect">
            <a:avLst>
              <a:gd name="adj" fmla="val 5333"/>
            </a:avLst>
          </a:prstGeom>
          <a:solidFill>
            <a:srgbClr val="B8822A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25" name="Google Shape;125;p3"/>
          <p:cNvSpPr/>
          <p:nvPr/>
        </p:nvSpPr>
        <p:spPr>
          <a:xfrm>
            <a:off x="10434128" y="2417245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69" name="Picture 16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7074" y="2580191"/>
            <a:ext cx="277612" cy="277612"/>
          </a:xfrm>
          <a:prstGeom prst="rect">
            <a:avLst/>
          </a:prstGeom>
        </p:spPr>
      </p:pic>
      <p:sp>
        <p:nvSpPr>
          <p:cNvPr id="127" name="Google Shape;127;p3"/>
          <p:cNvSpPr/>
          <p:nvPr/>
        </p:nvSpPr>
        <p:spPr>
          <a:xfrm>
            <a:off x="10058400" y="3066469"/>
            <a:ext cx="1354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Verificación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548640" y="123378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04 · VISIÓN DE ECOSISTEMA Y ESCALABILIDAD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150810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El primer módulo de una plataforma que crece sin reconstruirse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400800" y="2235197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400"/>
              <a:buFont typeface="Montserrat"/>
              <a:buNone/>
            </a:pPr>
            <a:r>
              <a:rPr lang="es-MX" sz="1400" b="1">
                <a:solidFill>
                  <a:srgbClr val="544245"/>
                </a:solidFill>
                <a:latin typeface="Montserrat"/>
                <a:ea typeface="Montserrat"/>
                <a:cs typeface="Montserrat"/>
                <a:sym typeface="Montserrat"/>
              </a:rPr>
              <a:t>Módulos del ecosistema</a:t>
            </a:r>
            <a:endParaRPr lang="es-MX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00800" y="2692397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3D0017"/>
          </a:solidFill>
          <a:ln>
            <a:noFill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2" name="Google Shape;172;p4"/>
          <p:cNvSpPr/>
          <p:nvPr/>
        </p:nvSpPr>
        <p:spPr>
          <a:xfrm>
            <a:off x="6656832" y="2893565"/>
            <a:ext cx="512064" cy="51206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3" name="Google Shape;17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5089" y="3031822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7315200" y="2747261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s-MX" sz="1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GSTS — Constancias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DCE3"/>
              </a:buClr>
              <a:buSzPts val="1100"/>
              <a:buFont typeface="Montserrat"/>
              <a:buNone/>
            </a:pPr>
            <a:r>
              <a:rPr lang="es-MX" sz="1100" dirty="0">
                <a:solidFill>
                  <a:srgbClr val="F0DCE3"/>
                </a:solidFill>
                <a:latin typeface="Montserrat"/>
                <a:ea typeface="Montserrat"/>
                <a:cs typeface="Montserrat"/>
                <a:sym typeface="Montserrat"/>
              </a:rPr>
              <a:t>El módulo más avanzado del ecosistema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400800" y="3835397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76" name="Google Shape;176;p4"/>
          <p:cNvSpPr/>
          <p:nvPr/>
        </p:nvSpPr>
        <p:spPr>
          <a:xfrm>
            <a:off x="6656832" y="3954269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77" name="Google Shape;17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082651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7269480" y="3835397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GAF — Facturación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400800" y="4676645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0" name="Google Shape;180;p4"/>
          <p:cNvSpPr/>
          <p:nvPr/>
        </p:nvSpPr>
        <p:spPr>
          <a:xfrm>
            <a:off x="6656832" y="4795517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1" name="Google Shape;18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4923899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/>
          <p:nvPr/>
        </p:nvSpPr>
        <p:spPr>
          <a:xfrm>
            <a:off x="7269480" y="4676645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SOAPAP Correspondencia (Gestión oficios entrantes)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00800" y="5517893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 cap="flat" cmpd="sng">
            <a:solidFill>
              <a:srgbClr val="B882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4" name="Google Shape;184;p4"/>
          <p:cNvSpPr/>
          <p:nvPr/>
        </p:nvSpPr>
        <p:spPr>
          <a:xfrm>
            <a:off x="6656832" y="5636765"/>
            <a:ext cx="475488" cy="475488"/>
          </a:xfrm>
          <a:prstGeom prst="ellipse">
            <a:avLst/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85" name="Google Shape;18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5214" y="5765147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7269480" y="5517893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132B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5B132B"/>
                </a:solidFill>
                <a:latin typeface="Montserrat"/>
                <a:ea typeface="Montserrat"/>
                <a:cs typeface="Montserrat"/>
                <a:sym typeface="Montserrat"/>
              </a:rPr>
              <a:t>Próximos módulos por área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00800" y="6377429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Reutilizan las fundaciones — no se reconstruyen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76349" y="2235197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189" name="Google Shape;189;p4"/>
          <p:cNvSpPr/>
          <p:nvPr/>
        </p:nvSpPr>
        <p:spPr>
          <a:xfrm>
            <a:off x="896389" y="2463797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600"/>
              <a:buFont typeface="Montserrat"/>
              <a:buNone/>
            </a:pPr>
            <a:r>
              <a:rPr lang="es-MX" sz="16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Fundaciones compartidas</a:t>
            </a:r>
            <a:endParaRPr lang="es-MX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96389" y="2856989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150"/>
              <a:buFont typeface="Calibri"/>
              <a:buNone/>
            </a:pPr>
            <a:r>
              <a:rPr lang="es-MX" sz="1150" i="1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Construidas una sola vez; cada módulo nuevo las reutiliza.</a:t>
            </a:r>
            <a:endParaRPr lang="es-MX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68957" y="3332477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2" name="Google Shape;19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2401" y="345592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454173" y="3305045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Una plataforma que crece por módulos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454173" y="3579365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nuevo módulo aprovecha la infraestructura existente, reduciendo  tiempos de implementación. </a:t>
            </a:r>
            <a:endParaRPr lang="es-MX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868957" y="3954269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196" name="Google Shape;19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2401" y="4077713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1454173" y="3926837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Acceso único a la plataforma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454173" y="4201157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Los usuarios ingresan una sola vez para acceder de forma segura a todos los módulos autorizados.</a:t>
            </a:r>
          </a:p>
        </p:txBody>
      </p:sp>
      <p:sp>
        <p:nvSpPr>
          <p:cNvPr id="199" name="Google Shape;199;p4"/>
          <p:cNvSpPr/>
          <p:nvPr/>
        </p:nvSpPr>
        <p:spPr>
          <a:xfrm>
            <a:off x="868957" y="4576061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0" name="Google Shape;20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2401" y="4699505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"/>
          <p:cNvSpPr/>
          <p:nvPr/>
        </p:nvSpPr>
        <p:spPr>
          <a:xfrm>
            <a:off x="1454173" y="4548629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250"/>
              <a:buFont typeface="Montserrat"/>
              <a:buNone/>
            </a:pPr>
            <a:r>
              <a:rPr lang="es-MX" sz="12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Sistema de diseño compartido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454173" y="4822949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050"/>
              <a:buFont typeface="Calibri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Todos los módulos comparten la misma imagen y forma de operar, facilitando su uso y fortaleciendo la identidad institucional. </a:t>
            </a:r>
            <a:endParaRPr lang="es-MX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68957" y="5197853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4" name="Google Shape;20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401" y="5321297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/>
          <p:nvPr/>
        </p:nvSpPr>
        <p:spPr>
          <a:xfrm>
            <a:off x="1454173" y="5170421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Control de acceso y auditoría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454173" y="5444741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Una administración centralizada de permisos y registro de actividades en toda la plataforma.</a:t>
            </a:r>
          </a:p>
        </p:txBody>
      </p:sp>
      <p:sp>
        <p:nvSpPr>
          <p:cNvPr id="207" name="Google Shape;207;p4"/>
          <p:cNvSpPr/>
          <p:nvPr/>
        </p:nvSpPr>
        <p:spPr>
          <a:xfrm>
            <a:off x="868957" y="5819645"/>
            <a:ext cx="457200" cy="457200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08" name="Google Shape;20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2401" y="5943089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"/>
          <p:cNvSpPr/>
          <p:nvPr/>
        </p:nvSpPr>
        <p:spPr>
          <a:xfrm>
            <a:off x="1454173" y="5792213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100" b="1">
                <a:solidFill>
                  <a:schemeClr val="dk1"/>
                </a:solidFill>
              </a:rPr>
              <a:t>Integridad verificable por diseño</a:t>
            </a:r>
            <a:endParaRPr lang="es-MX" sz="1250" b="1">
              <a:solidFill>
                <a:srgbClr val="191C1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1454173" y="6066533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0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documento tiene folio único, hash de integridad y reglas que impiden alterarlo una vez emitido.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2d431b908_8_14"/>
          <p:cNvSpPr/>
          <p:nvPr/>
        </p:nvSpPr>
        <p:spPr>
          <a:xfrm>
            <a:off x="548640" y="1233787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05 · ¿CÓMO FUNCIONA LA PLATAFORMA?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" y="1508108"/>
            <a:ext cx="6255025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Así viaja un trámite, paso a paso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950000" y="2879324"/>
            <a:ext cx="10291998" cy="25400"/>
          </a:xfrm>
          <a:prstGeom prst="rect">
            <a:avLst/>
          </a:prstGeom>
          <a:solidFill>
            <a:srgbClr val="E6E1E3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401" name="Google Shape;401;p5"/>
          <p:cNvSpPr/>
          <p:nvPr/>
        </p:nvSpPr>
        <p:spPr>
          <a:xfrm>
            <a:off x="1657666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3372999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5088332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"/>
          <p:cNvSpPr/>
          <p:nvPr/>
        </p:nvSpPr>
        <p:spPr>
          <a:xfrm>
            <a:off x="6803665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8518998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/>
          <p:nvPr/>
        </p:nvSpPr>
        <p:spPr>
          <a:xfrm>
            <a:off x="10234331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648247" y="2600768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08" name="Google Shape;40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194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"/>
          <p:cNvSpPr/>
          <p:nvPr/>
        </p:nvSpPr>
        <p:spPr>
          <a:xfrm>
            <a:off x="125000" y="3253775"/>
            <a:ext cx="1650000" cy="44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Solicitud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Ciudadano</a:t>
            </a:r>
            <a:endParaRPr lang="es-MX" sz="900" dirty="0">
              <a:solidFill>
                <a:srgbClr val="B882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"/>
          <p:cNvSpPr/>
          <p:nvPr/>
        </p:nvSpPr>
        <p:spPr>
          <a:xfrm>
            <a:off x="150000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Solicita su trámite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"/>
          <p:cNvSpPr/>
          <p:nvPr/>
        </p:nvSpPr>
        <p:spPr>
          <a:xfrm>
            <a:off x="2363581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2" name="Google Shape;41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6527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"/>
          <p:cNvSpPr/>
          <p:nvPr/>
        </p:nvSpPr>
        <p:spPr>
          <a:xfrm>
            <a:off x="1840333" y="3253775"/>
            <a:ext cx="1650000" cy="73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14" name="Google Shape;414;p5"/>
          <p:cNvSpPr/>
          <p:nvPr/>
        </p:nvSpPr>
        <p:spPr>
          <a:xfrm>
            <a:off x="1865333" y="4151654"/>
            <a:ext cx="1600000" cy="43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Llena datos y se anexan documentos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/>
          <p:cNvSpPr/>
          <p:nvPr/>
        </p:nvSpPr>
        <p:spPr>
          <a:xfrm>
            <a:off x="4078914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6" name="Google Shape;41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1860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"/>
          <p:cNvSpPr/>
          <p:nvPr/>
        </p:nvSpPr>
        <p:spPr>
          <a:xfrm>
            <a:off x="3555666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3580666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operador revisa requisitos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5794247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0" name="Google Shape;42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7193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"/>
          <p:cNvSpPr/>
          <p:nvPr/>
        </p:nvSpPr>
        <p:spPr>
          <a:xfrm>
            <a:off x="5270999" y="3253776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5295999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autoriza el trámite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09580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4" name="Google Shape;424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72526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"/>
          <p:cNvSpPr/>
          <p:nvPr/>
        </p:nvSpPr>
        <p:spPr>
          <a:xfrm>
            <a:off x="6986332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26" name="Google Shape;426;p5"/>
          <p:cNvSpPr/>
          <p:nvPr/>
        </p:nvSpPr>
        <p:spPr>
          <a:xfrm>
            <a:off x="7011332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valida el pago del trámite.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9224913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8" name="Google Shape;428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87859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"/>
          <p:cNvSpPr/>
          <p:nvPr/>
        </p:nvSpPr>
        <p:spPr>
          <a:xfrm>
            <a:off x="8701665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Emisión y entrega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8726665" y="4151654"/>
            <a:ext cx="16000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Se emite y entrega la constancia con folio y QR.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10940246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32" name="Google Shape;432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103192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"/>
          <p:cNvSpPr/>
          <p:nvPr/>
        </p:nvSpPr>
        <p:spPr>
          <a:xfrm>
            <a:off x="10416998" y="3253775"/>
            <a:ext cx="1650000" cy="63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Verificación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Calibri"/>
                <a:cs typeface="Calibri"/>
                <a:sym typeface="Montserrat"/>
              </a:rPr>
              <a:t/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10441998" y="4151654"/>
            <a:ext cx="1600000" cy="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folio y código QR permiten verificar la constancia; el portal público de consulta y descarga está planeado para la siguiente fase.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687445" y="5378947"/>
            <a:ext cx="1109472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3D0017"/>
                </a:solidFill>
                <a:latin typeface="Calibri"/>
                <a:ea typeface="Calibri"/>
                <a:cs typeface="Calibri"/>
                <a:sym typeface="Calibri"/>
              </a:rPr>
              <a:t>Cada trámite sigue siempre esta misma ruta: clara, ordenada y de principio a fin. Si el ciudadano solicita factura, GSTS registra y envía la solicitud a GAF; el Timbrado Fiscal procesa después el CFDI, con la integración productiva ante el PAC aún pendiente.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>
            <a:off x="548640" y="11676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06 · IMPACTO DIRECTO AL CIUDADANO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48640" y="1369564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Trámite más rápido y transparente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4864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25" name="Google Shape;225;p5"/>
          <p:cNvSpPr/>
          <p:nvPr/>
        </p:nvSpPr>
        <p:spPr>
          <a:xfrm>
            <a:off x="822960" y="2316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26" name="Google Shape;22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"/>
          <p:cNvSpPr/>
          <p:nvPr/>
        </p:nvSpPr>
        <p:spPr>
          <a:xfrm>
            <a:off x="155448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Atención más ágil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84124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Validación y emisión en una sola visita a ventanilla, sin esperar procesos manuales de terceros.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217920" y="2041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0" name="Google Shape;230;p5"/>
          <p:cNvSpPr/>
          <p:nvPr/>
        </p:nvSpPr>
        <p:spPr>
          <a:xfrm>
            <a:off x="6492240" y="2316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1" name="Google Shape;23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5311" y="2469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"/>
          <p:cNvSpPr/>
          <p:nvPr/>
        </p:nvSpPr>
        <p:spPr>
          <a:xfrm>
            <a:off x="7223760" y="2316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Consulta y descarga planeadas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510528" y="2992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folio y código QR de cada constancia ya están listos para verificarse; un portal público para consultar, verificar y descargar documentos es el siguiente paso planeado.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54864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35" name="Google Shape;235;p5"/>
          <p:cNvSpPr/>
          <p:nvPr/>
        </p:nvSpPr>
        <p:spPr>
          <a:xfrm>
            <a:off x="822960" y="46020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36" name="Google Shape;23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603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/>
          <p:nvPr/>
        </p:nvSpPr>
        <p:spPr>
          <a:xfrm>
            <a:off x="155448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Verificación inmediata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4124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constancia lleva folio y código QR que confirman su autenticidad y vigencia al instante.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217920" y="4327697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40" name="Google Shape;240;p5"/>
          <p:cNvSpPr/>
          <p:nvPr/>
        </p:nvSpPr>
        <p:spPr>
          <a:xfrm>
            <a:off x="6492240" y="46020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41" name="Google Shape;24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5311" y="47550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7223760" y="4602017"/>
            <a:ext cx="42245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Transparencia y certeza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6510528" y="5278673"/>
            <a:ext cx="4809744" cy="103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Documentos oficiales verificables y facturación electrónica conforme a la normativa del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548640" y="12337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07 · SEGURIDAD Y AUDITORÍA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150810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Cinco garantías frente a cualquier auditoría</a:t>
            </a:r>
            <a:endParaRPr lang="es-MX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548640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2" name="Google Shape;352;p6"/>
          <p:cNvSpPr/>
          <p:nvPr/>
        </p:nvSpPr>
        <p:spPr>
          <a:xfrm>
            <a:off x="822960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3" name="Google Shape;35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"/>
          <p:cNvSpPr/>
          <p:nvPr/>
        </p:nvSpPr>
        <p:spPr>
          <a:xfrm>
            <a:off x="1554480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Trazabilidad de las operaciones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41248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acción queda registrada en una bitácora para consulta y auditoría.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4416552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7" name="Google Shape;357;p6"/>
          <p:cNvSpPr/>
          <p:nvPr/>
        </p:nvSpPr>
        <p:spPr>
          <a:xfrm>
            <a:off x="4690872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8" name="Google Shape;35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"/>
          <p:cNvSpPr/>
          <p:nvPr/>
        </p:nvSpPr>
        <p:spPr>
          <a:xfrm>
            <a:off x="5422392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Conservación centralizada de documentos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4709160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Facturas y constancias se conservan listas para cualquier revisión, durante el tiempo que exige el SAT.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8284464" y="23372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2" name="Google Shape;362;p6"/>
          <p:cNvSpPr/>
          <p:nvPr/>
        </p:nvSpPr>
        <p:spPr>
          <a:xfrm>
            <a:off x="8558784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3" name="Google Shape;36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9290304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Autenticidad verificable al instante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8577072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Cualquier persona confirma en segundos que un documento es legítimo, sin exponer nuestra red interna.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2482596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7" name="Google Shape;367;p6"/>
          <p:cNvSpPr/>
          <p:nvPr/>
        </p:nvSpPr>
        <p:spPr>
          <a:xfrm>
            <a:off x="2756916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8" name="Google Shape;368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09987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"/>
          <p:cNvSpPr/>
          <p:nvPr/>
        </p:nvSpPr>
        <p:spPr>
          <a:xfrm>
            <a:off x="3488436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Acceso administrado por roles y permisos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2775204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usuario entra una sola vez y solo hace lo que su rol permite; queda registrado quién hizo qué.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6350508" y="4394662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2" name="Google Shape;372;p6"/>
          <p:cNvSpPr/>
          <p:nvPr/>
        </p:nvSpPr>
        <p:spPr>
          <a:xfrm>
            <a:off x="6624828" y="46689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3" name="Google Shape;373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7899" y="48220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"/>
          <p:cNvSpPr/>
          <p:nvPr/>
        </p:nvSpPr>
        <p:spPr>
          <a:xfrm>
            <a:off x="7356348" y="46689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Integridad verificable mediante hash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6643116" y="53456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Cada documento lleva un hash de integridad que permite detectar modificaciones posteriores a su emisión.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548640" y="1215327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08 · INDICADORES DE DESEMPEÑO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1489647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Indicadores propuestos para el seguimiento directivo</a:t>
            </a:r>
            <a:endParaRPr lang="es-MX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48640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89" name="Google Shape;289;p7"/>
          <p:cNvSpPr/>
          <p:nvPr/>
        </p:nvSpPr>
        <p:spPr>
          <a:xfrm>
            <a:off x="822960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0" name="Google Shape;29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031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7"/>
          <p:cNvSpPr/>
          <p:nvPr/>
        </p:nvSpPr>
        <p:spPr>
          <a:xfrm>
            <a:off x="1554480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Volumen de constancias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41248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Constancias emitidas por periodo, segmentadas por tipo (registrados y no registrados).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416552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4" name="Google Shape;294;p7"/>
          <p:cNvSpPr/>
          <p:nvPr/>
        </p:nvSpPr>
        <p:spPr>
          <a:xfrm>
            <a:off x="4690872" y="2685480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295" name="Google Shape;29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3943" y="28385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7"/>
          <p:cNvSpPr/>
          <p:nvPr/>
        </p:nvSpPr>
        <p:spPr>
          <a:xfrm>
            <a:off x="5422392" y="26854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Tiempo de atención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709160" y="33621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Tiempo transcurrido entre la captura y la resolución del trámite.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284464" y="24111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299" name="Google Shape;299;p7"/>
          <p:cNvSpPr/>
          <p:nvPr/>
        </p:nvSpPr>
        <p:spPr>
          <a:xfrm>
            <a:off x="8558784" y="2593117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0" name="Google Shape;30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1855" y="27461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/>
          <p:nvPr/>
        </p:nvSpPr>
        <p:spPr>
          <a:xfrm>
            <a:off x="9290304" y="25931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Tasa de timbrado exitoso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77072" y="32697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CFDI timbrados correctamente entre el total de intentos. Disponible cuando el timbrado esté en producción.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548640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4" name="Google Shape;304;p7"/>
          <p:cNvSpPr/>
          <p:nvPr/>
        </p:nvSpPr>
        <p:spPr>
          <a:xfrm>
            <a:off x="822960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05" name="Google Shape;305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031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/>
          <p:nvPr/>
        </p:nvSpPr>
        <p:spPr>
          <a:xfrm>
            <a:off x="1554480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Trámites con pago vencido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841248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Trámites aprobados que no fueron pagados antes de su fecha límite.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16552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09" name="Google Shape;309;p7"/>
          <p:cNvSpPr/>
          <p:nvPr/>
        </p:nvSpPr>
        <p:spPr>
          <a:xfrm>
            <a:off x="4690872" y="4742880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0" name="Google Shape;31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3943" y="489595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/>
          <p:nvPr/>
        </p:nvSpPr>
        <p:spPr>
          <a:xfrm>
            <a:off x="5422392" y="4742880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Consultas externas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4709160" y="5419536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Porcentaje de trámites que requirieron validación manual con sistemas externos.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84464" y="44685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14" name="Google Shape;314;p7"/>
          <p:cNvSpPr/>
          <p:nvPr/>
        </p:nvSpPr>
        <p:spPr>
          <a:xfrm>
            <a:off x="8558784" y="4650517"/>
            <a:ext cx="566928" cy="566928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15" name="Google Shape;315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1855" y="4803588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7"/>
          <p:cNvSpPr/>
          <p:nvPr/>
        </p:nvSpPr>
        <p:spPr>
          <a:xfrm>
            <a:off x="9290304" y="4650517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Constancias con descuento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577072" y="5327173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Porcentaje de constancias a las que se aplicó un descuento.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TextBox 317"/>
          <p:cNvSpPr txBox="1"/>
          <p:nvPr/>
        </p:nvSpPr>
        <p:spPr>
          <a:xfrm>
            <a:off x="548640" y="6360000"/>
            <a:ext cx="110947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44245"/>
                </a:solidFill>
                <a:latin typeface="Calibri"/>
              </a:rPr>
              <a:t>Metas, periodicidad y responsables por definir.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400776"/>
            <a:ext cx="2258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Pasos 2–3 de 7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646721"/>
            <a:ext cx="254736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 y Validación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46720"/>
            <a:ext cx="2258568" cy="24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Interfaz de Ventanilla — en operación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6000" y="3350000"/>
            <a:ext cx="700000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248" y="1106025"/>
            <a:ext cx="8373112" cy="559131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71332" y="3154680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4 de 7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1332" y="3474680"/>
            <a:ext cx="202996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1332" y="3920360"/>
            <a:ext cx="2304288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Interfaz de Ventanilla — en operación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153348-1A7A-4888-8B71-F9F7BE61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108325"/>
            <a:ext cx="8666572" cy="545692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717644" y="294464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363360" y="1193788"/>
            <a:ext cx="128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Pasos 5–6 de 7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717644" y="3172642"/>
            <a:ext cx="4300000" cy="51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 de constancia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717644" y="3685358"/>
            <a:ext cx="2432304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Interfaz de Ventanilla — en operación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79AE043-1E86-49FE-A400-C1D27DFB7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829" y="1233788"/>
            <a:ext cx="4882531" cy="5193792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96" name="TextBox 395"/>
          <p:cNvSpPr txBox="1"/>
          <p:nvPr/>
        </p:nvSpPr>
        <p:spPr>
          <a:xfrm>
            <a:off x="717644" y="4200000"/>
            <a:ext cx="4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44245"/>
                </a:solidFill>
                <a:latin typeface="Calibri"/>
              </a:rPr>
              <a:t>La operación vigente cubre el cobro y la emisión de la constancia.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3D0017"/>
                </a:solidFill>
                <a:latin typeface="Calibri"/>
              </a:rPr>
              <a:t>Si se solicita factura, esta pantalla solo registra la solicitud para GAF. La emisión del CFDI y su timbrado ante el PAC aún no están en producción.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2" y="3429000"/>
            <a:ext cx="2276856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Diseño de interfaz — Timbrado en desarrollo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E13CC6-42BE-4B29-9E39-B64F93DA1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3" y="1145969"/>
            <a:ext cx="6517476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AF39CD7-5907-404D-B13A-F2E3F608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77" y="1145969"/>
            <a:ext cx="2666082" cy="510300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2580513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Descarga de CFDI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Diseño de interfaz — planeado para el portal público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E3313B5-C07A-46C2-9D64-A4D153666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96" r="13239"/>
          <a:stretch/>
        </p:blipFill>
        <p:spPr>
          <a:xfrm>
            <a:off x="4401312" y="1173770"/>
            <a:ext cx="6400800" cy="537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667512" y="3154680"/>
            <a:ext cx="22768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09 · DISEÑO DE INTERFAZ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667511" y="3429000"/>
            <a:ext cx="3513964" cy="43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Validador de constancias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667512" y="3859420"/>
            <a:ext cx="2276856" cy="21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Diseño de interfaz — planeado para el portal público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F560A7-9EBE-4CB0-900F-4849FCD7F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07" r="11886"/>
          <a:stretch/>
        </p:blipFill>
        <p:spPr>
          <a:xfrm>
            <a:off x="5300664" y="1112993"/>
            <a:ext cx="5419725" cy="549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8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/>
          <p:nvPr/>
        </p:nvSpPr>
        <p:spPr>
          <a:xfrm>
            <a:off x="548640" y="115065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10 · PREGUNTAS ABIERTAS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48640" y="1424974"/>
            <a:ext cx="11064240" cy="36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400"/>
              <a:buFont typeface="Montserrat"/>
              <a:buNone/>
            </a:pPr>
            <a:r>
              <a:rPr lang="es-MX" sz="24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aún está por resolver</a:t>
            </a:r>
            <a:endParaRPr lang="es-MX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48640" y="1969151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78" name="Google Shape;378;p11"/>
          <p:cNvSpPr/>
          <p:nvPr/>
        </p:nvSpPr>
        <p:spPr>
          <a:xfrm>
            <a:off x="777240" y="2097167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79" name="Google Shape;37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808" y="2210735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1"/>
          <p:cNvSpPr/>
          <p:nvPr/>
        </p:nvSpPr>
        <p:spPr>
          <a:xfrm>
            <a:off x="1371600" y="1969151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Modelo de sellado con el PAC — quedan puntos de integración por resolver (formatos, límites de cancelación) antes de timbrar en producción.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8686800" y="2142887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2" name="Google Shape;382;p11"/>
          <p:cNvSpPr/>
          <p:nvPr/>
        </p:nvSpPr>
        <p:spPr>
          <a:xfrm>
            <a:off x="8686800" y="214288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Factura Inteligente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48640" y="2773823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4" name="Google Shape;384;p11"/>
          <p:cNvSpPr/>
          <p:nvPr/>
        </p:nvSpPr>
        <p:spPr>
          <a:xfrm>
            <a:off x="777240" y="2901839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85" name="Google Shape;38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808" y="3015407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/>
          <p:nvPr/>
        </p:nvSpPr>
        <p:spPr>
          <a:xfrm>
            <a:off x="1371600" y="2773823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Automatización de la validación de no adeudo con el sistema comercial de Agua de Puebla — hoy esa consulta se hace de forma manual.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8686800" y="2947559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88" name="Google Shape;388;p11"/>
          <p:cNvSpPr/>
          <p:nvPr/>
        </p:nvSpPr>
        <p:spPr>
          <a:xfrm>
            <a:off x="8686800" y="2947559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Agua de Puebla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548640" y="3578495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0" name="Google Shape;390;p11"/>
          <p:cNvSpPr/>
          <p:nvPr/>
        </p:nvSpPr>
        <p:spPr>
          <a:xfrm>
            <a:off x="777240" y="3706511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1" name="Google Shape;391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0808" y="3820079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/>
          <p:nvPr/>
        </p:nvSpPr>
        <p:spPr>
          <a:xfrm>
            <a:off x="1371600" y="3578495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 err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Plantilla legal de la constancia de No Adeudo — pendiente del texto legal para poder generarla de forma automática.</a:t>
            </a: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8686800" y="3752231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4" name="Google Shape;394;p11"/>
          <p:cNvSpPr/>
          <p:nvPr/>
        </p:nvSpPr>
        <p:spPr>
          <a:xfrm>
            <a:off x="8686800" y="3752231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Jurídico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548640" y="4383167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96" name="Google Shape;396;p11"/>
          <p:cNvSpPr/>
          <p:nvPr/>
        </p:nvSpPr>
        <p:spPr>
          <a:xfrm>
            <a:off x="777240" y="4511183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97" name="Google Shape;397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808" y="4624751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1"/>
          <p:cNvSpPr/>
          <p:nvPr/>
        </p:nvSpPr>
        <p:spPr>
          <a:xfrm>
            <a:off x="1371600" y="4383167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¿Se reincorpora el Servicio de Firma electrónica? De ser así, hay que decidir qué pasa con las constancias ya emitidas sin firma.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8686800" y="4556903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0" name="Google Shape;400;p11"/>
          <p:cNvSpPr/>
          <p:nvPr/>
        </p:nvSpPr>
        <p:spPr>
          <a:xfrm>
            <a:off x="8686800" y="4556903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Jurídico · Dirección</a:t>
            </a:r>
            <a:endParaRPr lang="es-MX" sz="1100">
              <a:solidFill>
                <a:srgbClr val="3D00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548640" y="5187839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2" name="Google Shape;402;p11"/>
          <p:cNvSpPr/>
          <p:nvPr/>
        </p:nvSpPr>
        <p:spPr>
          <a:xfrm>
            <a:off x="777240" y="5315855"/>
            <a:ext cx="420624" cy="420624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3" name="Google Shape;40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808" y="5429423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1371600" y="5187839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 dirty="0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¿Se reintroduce la Facturación global? Depende de definir de dónde vendría la lista de pagos no solicitados que la alimentaría.</a:t>
            </a:r>
            <a:endParaRPr lang="es-MX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8686800" y="5361575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6" name="Google Shape;406;p11"/>
          <p:cNvSpPr/>
          <p:nvPr/>
        </p:nvSpPr>
        <p:spPr>
          <a:xfrm>
            <a:off x="8686800" y="5361575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y Finanzas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48640" y="5992511"/>
            <a:ext cx="110642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08" name="Google Shape;408;p11"/>
          <p:cNvSpPr/>
          <p:nvPr/>
        </p:nvSpPr>
        <p:spPr>
          <a:xfrm>
            <a:off x="777240" y="6120527"/>
            <a:ext cx="420624" cy="420624"/>
          </a:xfrm>
          <a:prstGeom prst="ellipse">
            <a:avLst/>
          </a:prstGeom>
          <a:solidFill>
            <a:srgbClr val="B882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409" name="Google Shape;409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0808" y="6234095"/>
            <a:ext cx="193487" cy="193487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1"/>
          <p:cNvSpPr/>
          <p:nvPr/>
        </p:nvSpPr>
        <p:spPr>
          <a:xfrm>
            <a:off x="1371600" y="5992511"/>
            <a:ext cx="7040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1C1E"/>
              </a:buClr>
              <a:buSzPts val="1350"/>
              <a:buFont typeface="Montserrat"/>
              <a:buNone/>
            </a:pPr>
            <a:r>
              <a:rPr lang="es-MX" sz="1350" b="1">
                <a:solidFill>
                  <a:srgbClr val="191C1E"/>
                </a:solidFill>
                <a:latin typeface="Montserrat"/>
                <a:ea typeface="Montserrat"/>
                <a:cs typeface="Montserrat"/>
                <a:sym typeface="Montserrat"/>
              </a:rPr>
              <a:t>Portal público de verificación y descarga — pendiente de priorización y construcción.</a:t>
            </a:r>
            <a:endParaRPr lang="es-MX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8686800" y="6166247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8F1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412" name="Google Shape;412;p11"/>
          <p:cNvSpPr/>
          <p:nvPr/>
        </p:nvSpPr>
        <p:spPr>
          <a:xfrm>
            <a:off x="8686800" y="6166247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100"/>
              <a:buFont typeface="Montserrat"/>
              <a:buNone/>
            </a:pPr>
            <a:r>
              <a:rPr lang="es-MX" sz="11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Supervisión Comercial y Atención Ciudadana</a:t>
            </a:r>
            <a:endParaRPr lang="es-MX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1207</Words>
  <Application>Microsoft Office PowerPoint</Application>
  <PresentationFormat>Panorámica</PresentationFormat>
  <Paragraphs>191</Paragraphs>
  <Slides>17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Montserrat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18</cp:revision>
  <dcterms:created xsi:type="dcterms:W3CDTF">2026-06-29T07:33:55Z</dcterms:created>
  <dcterms:modified xsi:type="dcterms:W3CDTF">2026-07-10T18:33:59Z</dcterms:modified>
</cp:coreProperties>
</file>