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</p:sldIdLst>
  <p:sldSz cx="12192000" cy="6858000"/>
  <p:notesSz cx="6858000" cy="12192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MEG68pCdPr1NCh9eRW8UTWnV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822A"/>
    <a:srgbClr val="3D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4329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9125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18" name="Google Shape;18;p13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3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13" descr="Texto  El contenido generado por IA puede ser incorrecto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7186" y="55528"/>
              <a:ext cx="1657093" cy="97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3" descr="Logotipo, nombre de la empresa  El contenido generado por IA puede ser incorrecto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665" y="63482"/>
              <a:ext cx="1800098" cy="1058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" name="Google Shape;22;p13"/>
            <p:cNvCxnSpPr/>
            <p:nvPr/>
          </p:nvCxnSpPr>
          <p:spPr>
            <a:xfrm>
              <a:off x="2838493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5752972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8810456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129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2743199"/>
            <a:ext cx="10515600" cy="343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31" name="Google Shape;31;p14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32" name="Google Shape;32;p14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4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40" name="Google Shape;40;p15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41" name="Google Shape;41;p15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5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1448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838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172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1" name="Google Shape;51;p16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6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1745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8" name="Google Shape;58;p17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9" name="Google Shape;59;p17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6612" y="1293962"/>
            <a:ext cx="3932237" cy="154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5183188" y="1293963"/>
            <a:ext cx="6172200" cy="456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839788" y="2856601"/>
            <a:ext cx="3932237" cy="30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69" name="Google Shape;69;p18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8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36612" y="1302588"/>
            <a:ext cx="3932237" cy="144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5183188" y="2182483"/>
            <a:ext cx="6172200" cy="367856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839788" y="2743200"/>
            <a:ext cx="3932237" cy="31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78" name="Google Shape;78;p19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79" name="Google Shape;79;p19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9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Relationship Id="rId9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9.png"/><Relationship Id="rId8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Relationship Id="rId9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Plataforma Institucional para la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Fase 1: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Gestión de Trámites y Facturación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Agosto 2026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01 · CONTEXTO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Por qué esta plataforma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Modernizar y ordenar procesos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Proveer una solución digital y automatizada a los procesos establecidos en el manual de procedimientos de cada área administrativa.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Bases para dos gerencias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desarrollo actual construye los sistemas base para la Gerencia de Supervisión Técnica de los Servicios y la Gerencia de Administración y Finanzas.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Cimentación técnica coordinada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Sistemas que trabajan de forma coordinada, con su alcance delimitado, para aislar los errores de cada nueva funcionalidad.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Primer paso de una base mayor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Una base sólida que permite implementar nuevas funcionalidades y desacoplar integraciones conforme crezca la institución.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48640" y="123378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02 · LOS CUATRO COMPONENTES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150810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Cuatro sistemas, una misma plataforma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400800" y="2235197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400"/>
              <a:buFont typeface="Montserrat"/>
              <a:buNone/>
            </a:pPr>
            <a:r>
              <a:rPr lang="es-MX" sz="140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Componentes de la Fase 1</a:t>
            </a:r>
            <a:endParaRPr lang="es-MX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400800" y="2692397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2" name="Google Shape;172;p4"/>
          <p:cNvSpPr/>
          <p:nvPr/>
        </p:nvSpPr>
        <p:spPr>
          <a:xfrm>
            <a:off x="6656832" y="2893565"/>
            <a:ext cx="512064" cy="51206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3" name="Google Shape;17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5089" y="3031822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/>
          <p:nvPr/>
        </p:nvSpPr>
        <p:spPr>
          <a:xfrm>
            <a:off x="7315200" y="2747261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s-MX" sz="1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GSTS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DCE3"/>
              </a:buClr>
              <a:buSzPts val="1100"/>
              <a:buFont typeface="Montserrat"/>
              <a:buNone/>
            </a:pPr>
            <a:r>
              <a:rPr lang="es-MX" sz="1100" dirty="0">
                <a:solidFill>
                  <a:srgbClr val="F0DCE3"/>
                </a:solidFill>
                <a:latin typeface="Montserrat"/>
                <a:ea typeface="Montserrat"/>
                <a:cs typeface="Montserrat"/>
                <a:sym typeface="Montserrat"/>
              </a:rPr>
              <a:t>Constancias de no registro y no adeudo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400800" y="3835397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6" name="Google Shape;176;p4"/>
          <p:cNvSpPr/>
          <p:nvPr/>
        </p:nvSpPr>
        <p:spPr>
          <a:xfrm>
            <a:off x="6656832" y="3954269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7" name="Google Shape;17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082651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7269480" y="3835397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GAF — recepción, validación, emisión y seguimiento de facturas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400800" y="4676645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0" name="Google Shape;180;p4"/>
          <p:cNvSpPr/>
          <p:nvPr/>
        </p:nvSpPr>
        <p:spPr>
          <a:xfrm>
            <a:off x="6656832" y="4795517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1" name="Google Shape;18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923899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/>
          <p:nvPr/>
        </p:nvSpPr>
        <p:spPr>
          <a:xfrm>
            <a:off x="7269480" y="4676645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Módulo de Timbrado Fiscal — timbrado y cancelación de comprobantes fiscales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400800" y="5517893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4" name="Google Shape;184;p4"/>
          <p:cNvSpPr/>
          <p:nvPr/>
        </p:nvSpPr>
        <p:spPr>
          <a:xfrm>
            <a:off x="6656832" y="5636765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5" name="Google Shape;18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5765147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/>
          <p:nvPr/>
        </p:nvSpPr>
        <p:spPr>
          <a:xfrm>
            <a:off x="7269480" y="5517893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Página Web Institucional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00800" y="6377429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Consulta de constancias y solicitud/descarga de facturación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76349" y="2235197"/>
            <a:ext cx="55778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9" name="Google Shape;189;p4"/>
          <p:cNvSpPr/>
          <p:nvPr/>
        </p:nvSpPr>
        <p:spPr>
          <a:xfrm>
            <a:off x="896389" y="2463797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600"/>
              <a:buFont typeface="Montserrat"/>
              <a:buNone/>
            </a:pPr>
            <a:r>
              <a:rPr lang="es-MX" sz="16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Una cimentación técnica común</a:t>
            </a:r>
            <a:endParaRPr lang="es-MX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96389" y="2856989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Construida para trabajar de forma coordinada, con el alcance de cada sistema bien delimitado.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68957" y="3332477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2" name="Google Shape;19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401" y="345592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454173" y="3305045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Sistemas coordinados, no dependientes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454173" y="3579365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sistema mantiene su alcance definido; ninguno depende de que otro esté disponible.</a:t>
            </a:r>
            <a:endParaRPr lang="es-MX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868957" y="3954269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6" name="Google Shape;19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2401" y="4077713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1454173" y="3926837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Errores aislados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454173" y="4201157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Un error en un componente no inhabilita el resto de la plataforma.</a:t>
            </a:r>
          </a:p>
        </p:txBody>
      </p:sp>
      <p:sp>
        <p:nvSpPr>
          <p:cNvPr id="199" name="Google Shape;199;p4"/>
          <p:cNvSpPr/>
          <p:nvPr/>
        </p:nvSpPr>
        <p:spPr>
          <a:xfrm>
            <a:off x="868957" y="4576061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0" name="Google Shape;200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2401" y="4699505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/>
          <p:nvPr/>
        </p:nvSpPr>
        <p:spPr>
          <a:xfrm>
            <a:off x="1454173" y="4548629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Integraciones desacopladas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1454173" y="4822949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Permiten incorporar nuevas funcionalidades sin reconstruir lo ya construido.</a:t>
            </a:r>
            <a:endParaRPr lang="es-MX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68957" y="5197853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4" name="Google Shape;204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401" y="5321297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1454173" y="5170421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Información centralizada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454173" y="5444741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Reduce actividades manuales y capturas repetidas entre áreas.</a:t>
            </a:r>
          </a:p>
        </p:txBody>
      </p:sp>
      <p:sp>
        <p:nvSpPr>
          <p:cNvPr id="207" name="Google Shape;207;p4"/>
          <p:cNvSpPr/>
          <p:nvPr/>
        </p:nvSpPr>
        <p:spPr>
          <a:xfrm>
            <a:off x="868957" y="5819645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8" name="Google Shape;20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401" y="5943089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/>
          <p:nvPr/>
        </p:nvSpPr>
        <p:spPr>
          <a:xfrm>
            <a:off x="1454173" y="5792213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Base para crecer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1454173" y="6066533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Permite incorporar progresivamente nuevos trámites, servicios y funciones.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Contar con una plataforma institucional propia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 centralice información y dé seguimiento ordenado a cada trámite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Base para incorporar progresivamente nuevos trámites, servicios y funciones — sin limitarse a los procesos de esta primera etapa.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100000"/>
            <a:ext cx="2258568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GSTS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MÓDULO DE CONSTANCIAS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480000"/>
            <a:ext cx="2547360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trámite, unificado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300000"/>
            <a:ext cx="2258568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Concentra la solicitud, los documentos, las validaciones, el cobro y la entrega de la constancia en un solo lugar, con seguimiento claro de principio a fin. Primera función de GSTS como base informática de la Gerencia.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6000" y="3350000"/>
            <a:ext cx="700000" cy="7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248" y="1106025"/>
            <a:ext cx="8373112" cy="559131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471332" y="3100000"/>
            <a:ext cx="2304288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04 · GAF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MÓDULO DE FACTURACIÓN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1332" y="3480000"/>
            <a:ext cx="2029968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factura, ordenada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1332" y="4300000"/>
            <a:ext cx="2304288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Concentra y da seguimiento a las solicitudes de constancias, permisos de descarga, multas y otros conceptos: datos fiscales, pago, validaciones y documentos, hasta la emisión o cancelación de la factura.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153348-1A7A-4888-8B71-F9F7BE61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230" y="1108325"/>
            <a:ext cx="7132304" cy="54569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717644" y="3100000"/>
            <a:ext cx="2432304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05 · TIMBRADO FISCAL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TIMBRADO FISCAL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17644" y="3480000"/>
            <a:ext cx="2221992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sello fiscal final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717644" y="4300000"/>
            <a:ext cx="2432304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Recibe de GAF las facturas ya revisadas, realiza el timbrado y devuelve la información generada para su conservación y consulta. A futuro, disponible para otros procesos de SOAPAP que requieran emitir comprobantes fiscales.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79AE043-1E86-49FE-A400-C1D27DFB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15" y="1233788"/>
            <a:ext cx="2711159" cy="519379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00000"/>
            <a:ext cx="2276856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06 · PÁGINA WEB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80000"/>
            <a:ext cx="3513964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puerta de entrada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4300000"/>
            <a:ext cx="2276856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Punto de entrada para solicitudes de facturación sin proceso digitalizado y para la verificación administrativa de constancias emitidas por GSTS, mediante dos rutas: /constancias/[ID] y /facturacion.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F560A7-9EBE-4CB0-900F-4849FCD7F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07" r="11886"/>
          <a:stretch/>
        </p:blipFill>
        <p:spPr>
          <a:xfrm>
            <a:off x="5300664" y="1112993"/>
            <a:ext cx="5419725" cy="54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8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548640" y="124214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07 · FUNCIONAMIENTO COORDINADO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592213"/>
            <a:ext cx="11064240" cy="4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000"/>
              <a:buFont typeface="Montserrat"/>
              <a:buNone/>
            </a:pPr>
            <a:r>
              <a:rPr lang="es-MX" sz="20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Así se complementan los cuatro componentes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48640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1243584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26" name="Google Shape;12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6530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548640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Portal / Solicitud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514600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816352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30" name="Google Shape;130;p3"/>
          <p:cNvSpPr/>
          <p:nvPr/>
        </p:nvSpPr>
        <p:spPr>
          <a:xfrm>
            <a:off x="3511296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31" name="Google Shape;131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4242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2816352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GSTS: trámite y cobro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782312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084064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35" name="Google Shape;135;p3"/>
          <p:cNvSpPr/>
          <p:nvPr/>
        </p:nvSpPr>
        <p:spPr>
          <a:xfrm>
            <a:off x="577900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36" name="Google Shape;136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1954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5084064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GAF: valida la solicitud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050024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351776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0" name="Google Shape;140;p3"/>
          <p:cNvSpPr/>
          <p:nvPr/>
        </p:nvSpPr>
        <p:spPr>
          <a:xfrm>
            <a:off x="8046720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41" name="Google Shape;141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9666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7351776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Timbrado: emite CFDI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317736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619488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B8822A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5" name="Google Shape;145;p3"/>
          <p:cNvSpPr/>
          <p:nvPr/>
        </p:nvSpPr>
        <p:spPr>
          <a:xfrm>
            <a:off x="10314432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46" name="Google Shape;146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378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/>
          <p:nvPr/>
        </p:nvSpPr>
        <p:spPr>
          <a:xfrm>
            <a:off x="9619488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GAF: conserva y consulta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48640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9" name="Google Shape;149;p3"/>
          <p:cNvSpPr/>
          <p:nvPr/>
        </p:nvSpPr>
        <p:spPr>
          <a:xfrm>
            <a:off x="822960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0" name="Google Shape;150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6031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/>
          <p:nvPr/>
        </p:nvSpPr>
        <p:spPr>
          <a:xfrm>
            <a:off x="1554480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Se aprovecha lo ya capturado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41248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 información capturada durante el trámite no se vuelve a registrar entre áreas.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344924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4" name="Google Shape;154;p3"/>
          <p:cNvSpPr/>
          <p:nvPr/>
        </p:nvSpPr>
        <p:spPr>
          <a:xfrm>
            <a:off x="4619244" y="4083525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5" name="Google Shape;155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2315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"/>
          <p:cNvSpPr/>
          <p:nvPr/>
        </p:nvSpPr>
        <p:spPr>
          <a:xfrm>
            <a:off x="5350764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Sin procesos complejos para el ciudadano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637532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usuario no necesita trámites adicionales para solicitar su factura.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110728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9" name="Google Shape;159;p3"/>
          <p:cNvSpPr/>
          <p:nvPr/>
        </p:nvSpPr>
        <p:spPr>
          <a:xfrm>
            <a:off x="8385048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0" name="Google Shape;160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38119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/>
          <p:nvPr/>
        </p:nvSpPr>
        <p:spPr>
          <a:xfrm>
            <a:off x="9116568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Resultado conservado y consultable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403336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Timbrado Fiscal devuelve el resultado a GAF para su conservación y consulta desde el expediente.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548640" y="121532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08 · BENEFICIOS INSTITUCIONALES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148964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gana la institución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48640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89" name="Google Shape;289;p7"/>
          <p:cNvSpPr/>
          <p:nvPr/>
        </p:nvSpPr>
        <p:spPr>
          <a:xfrm>
            <a:off x="822960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0" name="Google Shape;29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1554480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Seguimiento completo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41248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A los trámites y solicitudes, de principio a fin.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416552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4" name="Google Shape;294;p7"/>
          <p:cNvSpPr/>
          <p:nvPr/>
        </p:nvSpPr>
        <p:spPr>
          <a:xfrm>
            <a:off x="4690872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5" name="Google Shape;29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/>
          <p:nvPr/>
        </p:nvSpPr>
        <p:spPr>
          <a:xfrm>
            <a:off x="5422392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Menos dispersión y capturas repetidas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709160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Reduce la dispersión de información entre áreas y sistemas.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84464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9" name="Google Shape;299;p7"/>
          <p:cNvSpPr/>
          <p:nvPr/>
        </p:nvSpPr>
        <p:spPr>
          <a:xfrm>
            <a:off x="8558784" y="25931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0" name="Google Shape;30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461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/>
          <p:nvPr/>
        </p:nvSpPr>
        <p:spPr>
          <a:xfrm>
            <a:off x="9290304" y="25931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Historial y documentación conservada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577072" y="32697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Mantiene un historial de acciones y facilita su consulta.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48640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4" name="Google Shape;304;p7"/>
          <p:cNvSpPr/>
          <p:nvPr/>
        </p:nvSpPr>
        <p:spPr>
          <a:xfrm>
            <a:off x="822960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5" name="Google Shape;305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031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/>
          <p:nvPr/>
        </p:nvSpPr>
        <p:spPr>
          <a:xfrm>
            <a:off x="1554480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Menor riesgo de duplicidad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41248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En solicitudes y facturación.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416552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9" name="Google Shape;309;p7"/>
          <p:cNvSpPr/>
          <p:nvPr/>
        </p:nvSpPr>
        <p:spPr>
          <a:xfrm>
            <a:off x="4690872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3943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422392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Información para indicadores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709160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Disponible para dar seguimiento e indicadores institucionales.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284464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14" name="Google Shape;314;p7"/>
          <p:cNvSpPr/>
          <p:nvPr/>
        </p:nvSpPr>
        <p:spPr>
          <a:xfrm>
            <a:off x="8558784" y="46505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5" name="Google Shape;315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1855" y="48035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/>
          <p:nvPr/>
        </p:nvSpPr>
        <p:spPr>
          <a:xfrm>
            <a:off x="9290304" y="46505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Mejor atención ciudadana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577072" y="53271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Y una base común para digitalizar nuevos procesos.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48640" y="123378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PROYECCIÓN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150810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base para lo que sigue, no el destino final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400800" y="2235197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400"/>
              <a:buFont typeface="Montserrat"/>
              <a:buNone/>
            </a:pPr>
            <a:r>
              <a:rPr lang="es-MX" sz="140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Lo que continúa creciendo</a:t>
            </a:r>
            <a:endParaRPr lang="es-MX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400800" y="2692397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2" name="Google Shape;172;p4"/>
          <p:cNvSpPr/>
          <p:nvPr/>
        </p:nvSpPr>
        <p:spPr>
          <a:xfrm>
            <a:off x="6656832" y="2893565"/>
            <a:ext cx="512064" cy="51206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3" name="Google Shape;17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5089" y="3031822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/>
          <p:nvPr/>
        </p:nvSpPr>
        <p:spPr>
          <a:xfrm>
            <a:off x="7315200" y="2747261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s-MX" sz="1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GSTS y GAF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DCE3"/>
              </a:buClr>
              <a:buSzPts val="1100"/>
              <a:buFont typeface="Montserrat"/>
              <a:buNone/>
            </a:pPr>
            <a:r>
              <a:rPr lang="es-MX" sz="1100" dirty="0">
                <a:solidFill>
                  <a:srgbClr val="F0DCE3"/>
                </a:solidFill>
                <a:latin typeface="Montserrat"/>
                <a:ea typeface="Montserrat"/>
                <a:cs typeface="Montserrat"/>
                <a:sym typeface="Montserrat"/>
              </a:rPr>
              <a:t>Bases de las plataformas de sus Gerencias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400800" y="3835397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6" name="Google Shape;176;p4"/>
          <p:cNvSpPr/>
          <p:nvPr/>
        </p:nvSpPr>
        <p:spPr>
          <a:xfrm>
            <a:off x="6656832" y="3954269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7" name="Google Shape;17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082651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7269480" y="3835397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Módulo de Timbrado Fiscal — podrá atender la emisión fiscal de otros procesos de SOAPAP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400800" y="4676645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0" name="Google Shape;180;p4"/>
          <p:cNvSpPr/>
          <p:nvPr/>
        </p:nvSpPr>
        <p:spPr>
          <a:xfrm>
            <a:off x="6656832" y="4795517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1" name="Google Shape;18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923899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/>
          <p:nvPr/>
        </p:nvSpPr>
        <p:spPr>
          <a:xfrm>
            <a:off x="7269480" y="4676645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Página Web Institucional — validaciones administrativas para procesos futuros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400800" y="5517893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4" name="Google Shape;184;p4"/>
          <p:cNvSpPr/>
          <p:nvPr/>
        </p:nvSpPr>
        <p:spPr>
          <a:xfrm>
            <a:off x="6656832" y="5636765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5" name="Google Shape;18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5765147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/>
          <p:nvPr/>
        </p:nvSpPr>
        <p:spPr>
          <a:xfrm>
            <a:off x="7269480" y="5517893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Un entorno institucional integrado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00800" y="6377429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Procesos que comparten información y mantienen un seguimiento ordenado, sin perder la responsabilidad de cada área.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76349" y="2235197"/>
            <a:ext cx="55778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9" name="Google Shape;189;p4"/>
          <p:cNvSpPr/>
          <p:nvPr/>
        </p:nvSpPr>
        <p:spPr>
          <a:xfrm>
            <a:off x="896389" y="2463797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600"/>
              <a:buFont typeface="Montserrat"/>
              <a:buNone/>
            </a:pPr>
            <a:r>
              <a:rPr lang="es-MX" sz="16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No es el final, es la base</a:t>
            </a:r>
            <a:endParaRPr lang="es-MX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96389" y="2856989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GSTS y GAF constituyen las bases de las plataformas informáticas de sus Gerencias.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68957" y="3332477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2" name="Google Shape;19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401" y="345592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454173" y="3305045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Nuevos módulos por Gerencia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454173" y="3579365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Sobre GSTS y GAF podrán incorporarse progresivamente nuevos procesos y servicios.</a:t>
            </a:r>
            <a:endParaRPr lang="es-MX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868957" y="3954269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6" name="Google Shape;19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2401" y="4077713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1454173" y="3926837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Timbrado fiscal reutilizable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454173" y="4201157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Atenderá las necesidades de emisión fiscal que surjan desde otros procesos de SOAPAP.</a:t>
            </a:r>
          </a:p>
        </p:txBody>
      </p:sp>
      <p:sp>
        <p:nvSpPr>
          <p:cNvPr id="199" name="Google Shape;199;p4"/>
          <p:cNvSpPr/>
          <p:nvPr/>
        </p:nvSpPr>
        <p:spPr>
          <a:xfrm>
            <a:off x="868957" y="4576061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0" name="Google Shape;200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2401" y="4699505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/>
          <p:nvPr/>
        </p:nvSpPr>
        <p:spPr>
          <a:xfrm>
            <a:off x="1454173" y="4548629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Validación administrativa general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1454173" y="4822949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 web dará certeza sobre documentos a todos los procesos futuros que lo requieran.</a:t>
            </a:r>
            <a:endParaRPr lang="es-MX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68957" y="5197853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4" name="Google Shape;204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401" y="5321297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1454173" y="5170421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Mejores prácticas de codificación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454173" y="5444741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Los mecanismos usados en la web se alinean a las mejores prácticas para sostener ese crecimiento.</a:t>
            </a:r>
          </a:p>
        </p:txBody>
      </p:sp>
      <p:sp>
        <p:nvSpPr>
          <p:cNvPr id="207" name="Google Shape;207;p4"/>
          <p:cNvSpPr/>
          <p:nvPr/>
        </p:nvSpPr>
        <p:spPr>
          <a:xfrm>
            <a:off x="868957" y="5819645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8" name="Google Shape;20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401" y="5943089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/>
          <p:nvPr/>
        </p:nvSpPr>
        <p:spPr>
          <a:xfrm>
            <a:off x="1454173" y="5792213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Un entorno institucional integrado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1454173" y="6066533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Procesos que comparten información y mantienen un seguimiento ordenado.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/>
          <p:nvPr/>
        </p:nvSpPr>
        <p:spPr>
          <a:xfrm>
            <a:off x="548640" y="112294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n-US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10 · AVANCE REAL vs. LO PROPUESTO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48640" y="1397261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n-US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¿Qué tanto existe hoy de lo descrito?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200" i="1" b="0">
                <a:solidFill>
                  <a:srgbClr val="544245"/>
                </a:solidFill>
                <a:latin typeface="Calibri"/>
              </a:rPr>
              <a:t>Evaluación cualitativa a partir de la revisión del código en cada repositorio (26 de agosto de 2026) — no una medición de horas ni de pruebas formales.</a:t>
            </a:r>
          </a:p>
        </p:txBody>
      </p:sp>
      <p:cxnSp>
        <p:nvCxnSpPr>
          <p:cNvPr id="339" name="Google Shape;339;p10"/>
          <p:cNvCxnSpPr/>
          <p:nvPr/>
        </p:nvCxnSpPr>
        <p:spPr>
          <a:xfrm>
            <a:off x="379476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10"/>
          <p:cNvCxnSpPr/>
          <p:nvPr/>
        </p:nvCxnSpPr>
        <p:spPr>
          <a:xfrm>
            <a:off x="478345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" name="Google Shape;341;p10"/>
          <p:cNvCxnSpPr/>
          <p:nvPr/>
        </p:nvCxnSpPr>
        <p:spPr>
          <a:xfrm>
            <a:off x="577215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42;p10"/>
          <p:cNvCxnSpPr/>
          <p:nvPr/>
        </p:nvCxnSpPr>
        <p:spPr>
          <a:xfrm>
            <a:off x="676084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3" name="Google Shape;343;p10"/>
          <p:cNvCxnSpPr/>
          <p:nvPr/>
        </p:nvCxnSpPr>
        <p:spPr>
          <a:xfrm>
            <a:off x="774954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4" name="Google Shape;344;p10"/>
          <p:cNvCxnSpPr/>
          <p:nvPr/>
        </p:nvCxnSpPr>
        <p:spPr>
          <a:xfrm>
            <a:off x="873823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10"/>
          <p:cNvCxnSpPr/>
          <p:nvPr/>
        </p:nvCxnSpPr>
        <p:spPr>
          <a:xfrm>
            <a:off x="972693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10"/>
          <p:cNvCxnSpPr/>
          <p:nvPr/>
        </p:nvCxnSpPr>
        <p:spPr>
          <a:xfrm>
            <a:off x="1071562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10"/>
          <p:cNvCxnSpPr/>
          <p:nvPr/>
        </p:nvCxnSpPr>
        <p:spPr>
          <a:xfrm>
            <a:off x="1170432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/>
          <p:cNvSpPr/>
          <p:nvPr/>
        </p:nvSpPr>
        <p:spPr>
          <a:xfrm>
            <a:off x="379476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77215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774954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72693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0715625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48640" y="2960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GSTS — Constancias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794760" y="2949281"/>
            <a:ext cx="5932170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48640" y="3851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GAF — Facturación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3794760" y="3840281"/>
            <a:ext cx="2372868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48640" y="4742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Módulo de Timbrado Fiscal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794760" y="4731281"/>
            <a:ext cx="1186434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48640" y="5633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Página Web Institucional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794760" y="5622281"/>
            <a:ext cx="790956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TextBox 363"/>
          <p:cNvSpPr txBox="1"/>
          <p:nvPr/>
        </p:nvSpPr>
        <p:spPr>
          <a:xfrm>
            <a:off x="9846930" y="2889281"/>
            <a:ext cx="7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0017"/>
                </a:solidFill>
                <a:latin typeface="Montserrat"/>
              </a:rPr>
              <a:t>75%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6287628" y="3780281"/>
            <a:ext cx="7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0017"/>
                </a:solidFill>
                <a:latin typeface="Montserrat"/>
              </a:rPr>
              <a:t>30%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101194" y="4671281"/>
            <a:ext cx="7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0017"/>
                </a:solidFill>
                <a:latin typeface="Montserrat"/>
              </a:rPr>
              <a:t>15%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4705716" y="5562281"/>
            <a:ext cx="7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0017"/>
                </a:solidFill>
                <a:latin typeface="Montserrat"/>
              </a:rPr>
              <a:t>10%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Gracias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Plataforma Institucional para la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Gestión Digital de Procesos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SOAPAP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PA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1207</Words>
  <Application>Microsoft Office PowerPoint</Application>
  <PresentationFormat>Panorámica</PresentationFormat>
  <Paragraphs>191</Paragraphs>
  <Slides>17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Montserrat</vt:lpstr>
      <vt:lpstr>SOAPAP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SOAPAP — Departamento de Informática</dc:creator>
  <cp:lastModifiedBy>Plataforma_03</cp:lastModifiedBy>
  <cp:revision>18</cp:revision>
  <dcterms:created xsi:type="dcterms:W3CDTF">2026-06-29T07:33:55Z</dcterms:created>
  <dcterms:modified xsi:type="dcterms:W3CDTF">2026-07-10T18:33:59Z</dcterms:modified>
</cp:coreProperties>
</file>