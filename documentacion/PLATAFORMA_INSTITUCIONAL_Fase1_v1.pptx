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75" r:id="rId2"/>
    <p:sldId id="276" r:id="rId3"/>
    <p:sldId id="278" r:id="rId4"/>
    <p:sldId id="277" r:id="rId5"/>
    <p:sldId id="283" r:id="rId6"/>
    <p:sldId id="284" r:id="rId7"/>
    <p:sldId id="279" r:id="rId8"/>
    <p:sldId id="280" r:id="rId9"/>
    <p:sldId id="281" r:id="rId10"/>
    <p:sldId id="282" r:id="rId11"/>
    <p:sldId id="285" r:id="rId12"/>
    <p:sldId id="286" r:id="rId13"/>
    <p:sldId id="287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MEG68pCdPr1NCh9eRW8UTWnVy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0017"/>
    <a:srgbClr val="F8F1F3"/>
    <a:srgbClr val="B88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8" Type="http://customschemas.google.com/relationships/presentationmetadata" Target="meta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43291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91258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17" name="Google Shape;17;p13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18" name="Google Shape;18;p13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13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13" descr="Texto  El contenido generado por IA puede ser incorrecto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67186" y="55528"/>
              <a:ext cx="1657093" cy="97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3" descr="Logotipo, nombre de la empresa  El contenido generado por IA puede ser incorrecto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81665" y="63482"/>
              <a:ext cx="1800098" cy="105888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" name="Google Shape;22;p13"/>
            <p:cNvCxnSpPr/>
            <p:nvPr/>
          </p:nvCxnSpPr>
          <p:spPr>
            <a:xfrm>
              <a:off x="2838493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5752972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8810456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838200" y="12968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838200" y="2743199"/>
            <a:ext cx="10515600" cy="343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31" name="Google Shape;31;p14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32" name="Google Shape;32;p14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14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40" name="Google Shape;40;p15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41" name="Google Shape;41;p15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15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838200" y="14487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838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172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1" name="Google Shape;51;p16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16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17453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8" name="Google Shape;58;p17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9" name="Google Shape;59;p17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7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6612" y="1293962"/>
            <a:ext cx="3932237" cy="154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5183188" y="1293963"/>
            <a:ext cx="6172200" cy="4567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2"/>
          </p:nvPr>
        </p:nvSpPr>
        <p:spPr>
          <a:xfrm>
            <a:off x="839788" y="2856601"/>
            <a:ext cx="3932237" cy="30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68" name="Google Shape;68;p18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69" name="Google Shape;69;p18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8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836612" y="1302588"/>
            <a:ext cx="3932237" cy="1440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5183188" y="2182483"/>
            <a:ext cx="6172200" cy="3678567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839788" y="2743200"/>
            <a:ext cx="3932237" cy="312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78" name="Google Shape;78;p19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79" name="Google Shape;79;p19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9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microsoft.com/office/2007/relationships/hdphoto" Target="../media/hdphoto1.wdp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5.png"/><Relationship Id="rId9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Plataforma Institucional para la</a:t>
            </a:r>
            <a:endParaRPr lang="es-MX" sz="3800" b="0" i="0" u="none" strike="noStrike" cap="none" dirty="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Gestión Digital de Procesos</a:t>
            </a:r>
            <a:endParaRPr lang="es-MX" sz="3800" b="0" i="0" u="none" strike="noStrike" cap="none" dirty="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b="1" dirty="0">
              <a:solidFill>
                <a:srgbClr val="3D00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Fase 1:</a:t>
            </a:r>
            <a:endParaRPr lang="es-MX" sz="3800" b="0" i="0" u="none" strike="noStrike" cap="none" dirty="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Gestión de constancias  y Facturación</a:t>
            </a:r>
            <a:endParaRPr lang="es-MX" sz="3800" b="0" i="0" u="none" strike="noStrike" cap="none" dirty="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Departamento de Informática   ·   Agosto 2026</a:t>
            </a:r>
            <a:endParaRPr lang="es-MX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548640" y="1163955"/>
            <a:ext cx="11064240" cy="56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Por qué esta plataforma</a:t>
            </a:r>
            <a:endParaRPr lang="es-MX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300" i="1" b="0">
                <a:solidFill>
                  <a:srgbClr val="544245"/>
                </a:solidFill>
                <a:latin typeface="Calibri"/>
              </a:rPr>
              <a:t>Capacidad limitada para gestionar, integrar y aprovechar oportunamente la información institucional.</a:t>
            </a:r>
          </a:p>
        </p:txBody>
      </p:sp>
      <p:sp>
        <p:nvSpPr>
          <p:cNvPr id="97" name="Google Shape;97;p2"/>
          <p:cNvSpPr/>
          <p:nvPr/>
        </p:nvSpPr>
        <p:spPr>
          <a:xfrm>
            <a:off x="548640" y="195135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98" name="Google Shape;98;p2"/>
          <p:cNvSpPr/>
          <p:nvPr/>
        </p:nvSpPr>
        <p:spPr>
          <a:xfrm>
            <a:off x="822960" y="2225678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031" y="237874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554480" y="2225678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Procesos institucionales insuficientemente digitalizados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2902334"/>
            <a:ext cx="4937760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Dependencia de documentos físicos y hojas de cálculo.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Captura manual, basada en correos y carpetas compartidas.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Poca automatización de tareas repetitivas.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sp>
        <p:nvSpPr>
          <p:cNvPr id="102" name="Google Shape;102;p2"/>
          <p:cNvSpPr/>
          <p:nvPr/>
        </p:nvSpPr>
        <p:spPr>
          <a:xfrm>
            <a:off x="6217920" y="195135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3" name="Google Shape;103;p2"/>
          <p:cNvSpPr/>
          <p:nvPr/>
        </p:nvSpPr>
        <p:spPr>
          <a:xfrm>
            <a:off x="6492240" y="2225678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4" name="Google Shape;10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5311" y="237874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7223760" y="2225678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Información institucional fragmentada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10528" y="2902334"/>
            <a:ext cx="4937760" cy="95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área mantiene sus propios archivos y registros.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Múltiples versiones del mismo dato, sin una fuente única.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Falta de integración entre información técnica, administrativa y financiera.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sp>
        <p:nvSpPr>
          <p:cNvPr id="107" name="Google Shape;107;p2"/>
          <p:cNvSpPr/>
          <p:nvPr/>
        </p:nvSpPr>
        <p:spPr>
          <a:xfrm>
            <a:off x="548640" y="423735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8" name="Google Shape;108;p2"/>
          <p:cNvSpPr/>
          <p:nvPr/>
        </p:nvSpPr>
        <p:spPr>
          <a:xfrm>
            <a:off x="822960" y="4511678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031" y="466474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54480" y="4511678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Ausencia de gobierno institucional de datos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41248" y="5188334"/>
            <a:ext cx="4937760" cy="119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existe un responsable claramente definido para cada dato.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Falta de criterios homogéneos para captura y validación.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Dificultad para identificar cuál es la información oficial.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17920" y="423735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13" name="Google Shape;113;p2"/>
          <p:cNvSpPr/>
          <p:nvPr/>
        </p:nvSpPr>
        <p:spPr>
          <a:xfrm>
            <a:off x="6492240" y="4511678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14" name="Google Shape;114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5311" y="466474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223760" y="4511678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Integración tecnológica insuficiente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10528" y="5188334"/>
            <a:ext cx="4937760" cy="1088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Sistemas independientes, sin interoperabilidad entre sí.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Desarrollo tecnológico reactivo, sin una arquitectura o ruta común.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Imposibilidad de relacionar automáticamente expedientes, indicadores y obligaciones.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/>
            </a:r>
          </a:p>
          <a:p>
            <a:pPr marL="171450" lvl="0" indent="-171450"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s-MX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0828775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2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Contar con una plataforma institucional propia que permita centralizar información, reducir actividades manuales y capturas repetidas, dar seguimiento a cada proceso y conservar de forma ordenada la documentación generada</a:t>
            </a:r>
            <a:endParaRPr lang="es-MX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75" y="6000750"/>
            <a:ext cx="1064780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Base para incorporar progresivamente nuevos trámites, servicios y funciones — sin limitarse a los procesos de esta primera etapa.</a:t>
            </a:r>
            <a:endParaRPr lang="es-MX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/>
          <p:nvPr/>
        </p:nvSpPr>
        <p:spPr>
          <a:xfrm>
            <a:off x="2838759" y="1228857"/>
            <a:ext cx="6514482" cy="38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Cuatro sistemas, una misma plataforma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4" descr="preencoded.png"/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527476" y="267025"/>
            <a:ext cx="235549" cy="235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55441DB2-E0B0-4B07-8AEF-A2BCC020E98C}"/>
              </a:ext>
            </a:extLst>
          </p:cNvPr>
          <p:cNvGrpSpPr/>
          <p:nvPr/>
        </p:nvGrpSpPr>
        <p:grpSpPr>
          <a:xfrm>
            <a:off x="1239466" y="2182610"/>
            <a:ext cx="4480560" cy="713232"/>
            <a:chOff x="6400800" y="3835397"/>
            <a:chExt cx="4480560" cy="713232"/>
          </a:xfrm>
        </p:grpSpPr>
        <p:sp>
          <p:nvSpPr>
            <p:cNvPr id="175" name="Google Shape;175;p4"/>
            <p:cNvSpPr/>
            <p:nvPr/>
          </p:nvSpPr>
          <p:spPr>
            <a:xfrm>
              <a:off x="6400800" y="3835397"/>
              <a:ext cx="4480560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9050" cap="flat" cmpd="sng">
              <a:solidFill>
                <a:srgbClr val="B882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8E53F19A-4244-49FA-85DE-3207F9C3753C}"/>
                </a:ext>
              </a:extLst>
            </p:cNvPr>
            <p:cNvGrpSpPr/>
            <p:nvPr/>
          </p:nvGrpSpPr>
          <p:grpSpPr>
            <a:xfrm>
              <a:off x="6656832" y="3835397"/>
              <a:ext cx="4224528" cy="713232"/>
              <a:chOff x="6656832" y="3835397"/>
              <a:chExt cx="4224528" cy="713232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DEBF6B35-4F71-486C-96FC-1CDC1F9BD4F8}"/>
                  </a:ext>
                </a:extLst>
              </p:cNvPr>
              <p:cNvGrpSpPr/>
              <p:nvPr/>
            </p:nvGrpSpPr>
            <p:grpSpPr>
              <a:xfrm>
                <a:off x="6656832" y="3954269"/>
                <a:ext cx="475488" cy="475488"/>
                <a:chOff x="6656832" y="3954269"/>
                <a:chExt cx="475488" cy="475488"/>
              </a:xfrm>
            </p:grpSpPr>
            <p:sp>
              <p:nvSpPr>
                <p:cNvPr id="176" name="Google Shape;176;p4"/>
                <p:cNvSpPr/>
                <p:nvPr/>
              </p:nvSpPr>
              <p:spPr>
                <a:xfrm>
                  <a:off x="6656832" y="3954269"/>
                  <a:ext cx="475488" cy="475488"/>
                </a:xfrm>
                <a:prstGeom prst="ellipse">
                  <a:avLst/>
                </a:prstGeom>
                <a:solidFill>
                  <a:srgbClr val="F8F1F3"/>
                </a:solidFill>
                <a:ln>
                  <a:solidFill>
                    <a:srgbClr val="F8F1F3"/>
                  </a:solidFill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s-MX"/>
                </a:p>
              </p:txBody>
            </p:sp>
            <p:pic>
              <p:nvPicPr>
                <p:cNvPr id="177" name="Google Shape;177;p4" descr="preencoded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785214" y="4082651"/>
                  <a:ext cx="218724" cy="21872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78" name="Google Shape;178;p4"/>
              <p:cNvSpPr/>
              <p:nvPr/>
            </p:nvSpPr>
            <p:spPr>
              <a:xfrm>
                <a:off x="7269480" y="3835397"/>
                <a:ext cx="3611880" cy="713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5B132B"/>
                  </a:buClr>
                  <a:buSzPts val="1250"/>
                  <a:buFont typeface="Montserrat"/>
                  <a:buNone/>
                </a:pPr>
                <a:r>
                  <a:rPr lang="es-MX" sz="1250" b="1" dirty="0">
                    <a:solidFill>
                      <a:srgbClr val="3D001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GAF</a:t>
                </a:r>
                <a:r>
                  <a:rPr lang="es-MX" sz="1250" b="1" dirty="0">
                    <a:solidFill>
                      <a:srgbClr val="5B132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— recepción, validación, emisión y seguimiento de facturas</a:t>
                </a:r>
                <a:endParaRPr lang="es-MX" sz="12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87ECEC9-246E-4A4B-866F-1313D0E7EB9E}"/>
              </a:ext>
            </a:extLst>
          </p:cNvPr>
          <p:cNvGrpSpPr/>
          <p:nvPr/>
        </p:nvGrpSpPr>
        <p:grpSpPr>
          <a:xfrm>
            <a:off x="1239466" y="3169729"/>
            <a:ext cx="4480560" cy="713232"/>
            <a:chOff x="6400800" y="4676645"/>
            <a:chExt cx="4480560" cy="713232"/>
          </a:xfrm>
        </p:grpSpPr>
        <p:sp>
          <p:nvSpPr>
            <p:cNvPr id="179" name="Google Shape;179;p4"/>
            <p:cNvSpPr/>
            <p:nvPr/>
          </p:nvSpPr>
          <p:spPr>
            <a:xfrm>
              <a:off x="6400800" y="4676645"/>
              <a:ext cx="4480560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9050" cap="flat" cmpd="sng">
              <a:solidFill>
                <a:srgbClr val="B882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 dirty="0"/>
            </a:p>
          </p:txBody>
        </p: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73CA299C-3E53-4FEB-8441-E140BB06D20B}"/>
                </a:ext>
              </a:extLst>
            </p:cNvPr>
            <p:cNvGrpSpPr/>
            <p:nvPr/>
          </p:nvGrpSpPr>
          <p:grpSpPr>
            <a:xfrm>
              <a:off x="6656832" y="4795517"/>
              <a:ext cx="475488" cy="475488"/>
              <a:chOff x="6656832" y="4795517"/>
              <a:chExt cx="475488" cy="475488"/>
            </a:xfrm>
          </p:grpSpPr>
          <p:sp>
            <p:nvSpPr>
              <p:cNvPr id="180" name="Google Shape;180;p4"/>
              <p:cNvSpPr/>
              <p:nvPr/>
            </p:nvSpPr>
            <p:spPr>
              <a:xfrm>
                <a:off x="6656832" y="4795517"/>
                <a:ext cx="475488" cy="475488"/>
              </a:xfrm>
              <a:prstGeom prst="ellipse">
                <a:avLst/>
              </a:prstGeom>
              <a:solidFill>
                <a:srgbClr val="F8F1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81" name="Google Shape;181;p4" descr="preencoded.p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785214" y="4923899"/>
                <a:ext cx="218724" cy="2187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2" name="Google Shape;182;p4"/>
            <p:cNvSpPr/>
            <p:nvPr/>
          </p:nvSpPr>
          <p:spPr>
            <a:xfrm>
              <a:off x="7269480" y="4676645"/>
              <a:ext cx="3538452" cy="713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B132B"/>
                </a:buClr>
                <a:buSzPts val="1250"/>
                <a:buFont typeface="Montserrat"/>
                <a:buNone/>
              </a:pPr>
              <a:r>
                <a:rPr lang="es-MX" sz="1250" b="1" dirty="0">
                  <a:solidFill>
                    <a:srgbClr val="5B13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Módulo de Timbrado Fiscal — timbrado y cancelación de comprobantes fiscales</a:t>
              </a:r>
              <a:endParaRPr lang="es-MX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B52A288B-7E77-4AB6-B038-3AA595FA4CEB}"/>
              </a:ext>
            </a:extLst>
          </p:cNvPr>
          <p:cNvGrpSpPr/>
          <p:nvPr/>
        </p:nvGrpSpPr>
        <p:grpSpPr>
          <a:xfrm>
            <a:off x="6622952" y="3176808"/>
            <a:ext cx="4508268" cy="713232"/>
            <a:chOff x="6400800" y="5517893"/>
            <a:chExt cx="4508268" cy="713232"/>
          </a:xfrm>
        </p:grpSpPr>
        <p:sp>
          <p:nvSpPr>
            <p:cNvPr id="183" name="Google Shape;183;p4"/>
            <p:cNvSpPr/>
            <p:nvPr/>
          </p:nvSpPr>
          <p:spPr>
            <a:xfrm>
              <a:off x="6400800" y="5517893"/>
              <a:ext cx="4508268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5875" cap="flat" cmpd="sng">
              <a:solidFill>
                <a:srgbClr val="B882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EC80AA40-8C85-461E-A686-BE0855891D71}"/>
                </a:ext>
              </a:extLst>
            </p:cNvPr>
            <p:cNvGrpSpPr/>
            <p:nvPr/>
          </p:nvGrpSpPr>
          <p:grpSpPr>
            <a:xfrm>
              <a:off x="6656832" y="5636765"/>
              <a:ext cx="475488" cy="475488"/>
              <a:chOff x="6656832" y="5636765"/>
              <a:chExt cx="475488" cy="475488"/>
            </a:xfrm>
          </p:grpSpPr>
          <p:sp>
            <p:nvSpPr>
              <p:cNvPr id="184" name="Google Shape;184;p4"/>
              <p:cNvSpPr/>
              <p:nvPr/>
            </p:nvSpPr>
            <p:spPr>
              <a:xfrm>
                <a:off x="6656832" y="5636765"/>
                <a:ext cx="475488" cy="475488"/>
              </a:xfrm>
              <a:prstGeom prst="ellipse">
                <a:avLst/>
              </a:prstGeom>
              <a:solidFill>
                <a:srgbClr val="F8F1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85" name="Google Shape;185;p4" descr="preencoded.p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785214" y="5765147"/>
                <a:ext cx="218724" cy="2187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6" name="Google Shape;186;p4"/>
            <p:cNvSpPr/>
            <p:nvPr/>
          </p:nvSpPr>
          <p:spPr>
            <a:xfrm>
              <a:off x="7260702" y="5598047"/>
              <a:ext cx="3566160" cy="5732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B132B"/>
                </a:buClr>
                <a:buSzPts val="1250"/>
                <a:buFont typeface="Montserrat"/>
                <a:buNone/>
              </a:pPr>
              <a:r>
                <a:rPr lang="es-MX" sz="1250" b="1" dirty="0">
                  <a:solidFill>
                    <a:srgbClr val="5B13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Página Web Institucional - Consulta de constancias y solicitud/descarga de facturación</a:t>
              </a:r>
            </a:p>
          </p:txBody>
        </p:sp>
      </p:grpSp>
      <p:sp>
        <p:nvSpPr>
          <p:cNvPr id="188" name="Google Shape;188;p4"/>
          <p:cNvSpPr/>
          <p:nvPr/>
        </p:nvSpPr>
        <p:spPr>
          <a:xfrm>
            <a:off x="468708" y="4171006"/>
            <a:ext cx="11254584" cy="2485826"/>
          </a:xfrm>
          <a:prstGeom prst="roundRect">
            <a:avLst>
              <a:gd name="adj" fmla="val 53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189" name="Google Shape;189;p4"/>
          <p:cNvSpPr/>
          <p:nvPr/>
        </p:nvSpPr>
        <p:spPr>
          <a:xfrm>
            <a:off x="754726" y="4333646"/>
            <a:ext cx="5728369" cy="327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600"/>
              <a:buFont typeface="Montserrat"/>
              <a:buNone/>
            </a:pPr>
            <a:r>
              <a:rPr lang="es-MX" sz="16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Una infraestructura con funciones compartidas</a:t>
            </a:r>
            <a:endParaRPr lang="es-MX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754726" y="4635052"/>
            <a:ext cx="10376493" cy="25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Construye una vez, reutiliza las veces que sean necesarias</a:t>
            </a:r>
            <a:endParaRPr lang="es-MX"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56D040A-D67C-4CCD-BE11-8FA1A6F5C7FB}"/>
              </a:ext>
            </a:extLst>
          </p:cNvPr>
          <p:cNvGrpSpPr/>
          <p:nvPr/>
        </p:nvGrpSpPr>
        <p:grpSpPr>
          <a:xfrm>
            <a:off x="4311495" y="5095668"/>
            <a:ext cx="3312216" cy="569214"/>
            <a:chOff x="923821" y="3305045"/>
            <a:chExt cx="3312216" cy="569214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79E1DAA1-A0DE-4335-95EC-BD09436232AE}"/>
                </a:ext>
              </a:extLst>
            </p:cNvPr>
            <p:cNvGrpSpPr/>
            <p:nvPr/>
          </p:nvGrpSpPr>
          <p:grpSpPr>
            <a:xfrm>
              <a:off x="923821" y="3375840"/>
              <a:ext cx="457200" cy="457200"/>
              <a:chOff x="868957" y="3332477"/>
              <a:chExt cx="457200" cy="457200"/>
            </a:xfrm>
          </p:grpSpPr>
          <p:sp>
            <p:nvSpPr>
              <p:cNvPr id="191" name="Google Shape;191;p4"/>
              <p:cNvSpPr/>
              <p:nvPr/>
            </p:nvSpPr>
            <p:spPr>
              <a:xfrm>
                <a:off x="868957" y="3332477"/>
                <a:ext cx="457200" cy="457200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92" name="Google Shape;192;p4" descr="preencoded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992401" y="3455921"/>
                <a:ext cx="210312" cy="210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3" name="Google Shape;193;p4"/>
            <p:cNvSpPr/>
            <p:nvPr/>
          </p:nvSpPr>
          <p:spPr>
            <a:xfrm>
              <a:off x="1454173" y="3305045"/>
              <a:ext cx="27818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100" b="1" dirty="0">
                  <a:solidFill>
                    <a:schemeClr val="dk1"/>
                  </a:solidFill>
                </a:rPr>
                <a:t>Una plataforma que crece por módulos</a:t>
              </a:r>
              <a:endParaRPr lang="es-MX" sz="12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1445029" y="3545075"/>
              <a:ext cx="2791008" cy="329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44245"/>
                </a:buClr>
                <a:buSzPts val="1050"/>
                <a:buFont typeface="Calibri"/>
                <a:buNone/>
              </a:pPr>
              <a:r>
                <a:rPr lang="es-MX" sz="10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Cada nuevo módulo aprovecha la infraestructura existente, reduciendo  tiempos de implementación. 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C9DA3E6F-55C6-4E12-9A4C-0C9A863FC4CA}"/>
              </a:ext>
            </a:extLst>
          </p:cNvPr>
          <p:cNvGrpSpPr/>
          <p:nvPr/>
        </p:nvGrpSpPr>
        <p:grpSpPr>
          <a:xfrm>
            <a:off x="3066184" y="5862096"/>
            <a:ext cx="3258416" cy="557576"/>
            <a:chOff x="923821" y="3898795"/>
            <a:chExt cx="3258416" cy="509280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1B06716A-120B-4FF3-A467-032F48E2188C}"/>
                </a:ext>
              </a:extLst>
            </p:cNvPr>
            <p:cNvGrpSpPr/>
            <p:nvPr/>
          </p:nvGrpSpPr>
          <p:grpSpPr>
            <a:xfrm>
              <a:off x="923821" y="3950875"/>
              <a:ext cx="457200" cy="457200"/>
              <a:chOff x="923821" y="3950875"/>
              <a:chExt cx="457200" cy="457200"/>
            </a:xfrm>
          </p:grpSpPr>
          <p:sp>
            <p:nvSpPr>
              <p:cNvPr id="195" name="Google Shape;195;p4"/>
              <p:cNvSpPr/>
              <p:nvPr/>
            </p:nvSpPr>
            <p:spPr>
              <a:xfrm>
                <a:off x="923821" y="3950875"/>
                <a:ext cx="457200" cy="457200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96" name="Google Shape;196;p4" descr="preencoded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047265" y="4074319"/>
                <a:ext cx="210312" cy="210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7" name="Google Shape;197;p4"/>
            <p:cNvSpPr/>
            <p:nvPr/>
          </p:nvSpPr>
          <p:spPr>
            <a:xfrm>
              <a:off x="1454173" y="3898795"/>
              <a:ext cx="1934999" cy="217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100" b="1" dirty="0">
                  <a:solidFill>
                    <a:schemeClr val="dk1"/>
                  </a:solidFill>
                </a:rPr>
                <a:t>Acceso único a la plataforma</a:t>
              </a:r>
              <a:endParaRPr lang="es-MX" sz="12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1454173" y="4134693"/>
              <a:ext cx="2728064" cy="2733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</a:pPr>
              <a:r>
                <a:rPr lang="es-MX" sz="10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Los usuarios ingresan una sola vez para acceder de forma segura a todos los módulos autorizados.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ABCB447-01CF-4E9F-9351-E3236C31013F}"/>
              </a:ext>
            </a:extLst>
          </p:cNvPr>
          <p:cNvGrpSpPr/>
          <p:nvPr/>
        </p:nvGrpSpPr>
        <p:grpSpPr>
          <a:xfrm>
            <a:off x="754727" y="5142544"/>
            <a:ext cx="3316787" cy="548256"/>
            <a:chOff x="928393" y="4572667"/>
            <a:chExt cx="3316787" cy="548256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E4229BAC-C82C-4C61-823D-62E15AD968C4}"/>
                </a:ext>
              </a:extLst>
            </p:cNvPr>
            <p:cNvGrpSpPr/>
            <p:nvPr/>
          </p:nvGrpSpPr>
          <p:grpSpPr>
            <a:xfrm>
              <a:off x="928393" y="4572667"/>
              <a:ext cx="457200" cy="457200"/>
              <a:chOff x="928393" y="4572667"/>
              <a:chExt cx="457200" cy="457200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928393" y="4572667"/>
                <a:ext cx="457200" cy="457200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200" name="Google Shape;200;p4" descr="preencoded.png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051837" y="4696111"/>
                <a:ext cx="210312" cy="210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1" name="Google Shape;201;p4"/>
            <p:cNvSpPr/>
            <p:nvPr/>
          </p:nvSpPr>
          <p:spPr>
            <a:xfrm>
              <a:off x="1454173" y="4576061"/>
              <a:ext cx="2412977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91C1E"/>
                </a:buClr>
                <a:buSzPts val="1250"/>
                <a:buFont typeface="Montserrat"/>
                <a:buNone/>
              </a:pPr>
              <a:r>
                <a:rPr lang="es-MX" sz="1100" b="1" dirty="0">
                  <a:solidFill>
                    <a:srgbClr val="191C1E"/>
                  </a:solidFill>
                  <a:latin typeface="+mj-lt"/>
                  <a:ea typeface="Montserrat"/>
                  <a:cs typeface="Montserrat"/>
                  <a:sym typeface="Montserrat"/>
                </a:rPr>
                <a:t>Sistema de diseño compartido</a:t>
              </a:r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1454172" y="4864076"/>
              <a:ext cx="2791008" cy="256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44245"/>
                </a:buClr>
                <a:buSzPts val="1050"/>
                <a:buFont typeface="Calibri"/>
                <a:buNone/>
              </a:pPr>
              <a:r>
                <a:rPr lang="es-MX" sz="10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Todos los módulos comparten la misma imagen y forma de operar, facilitando su uso y fortaleciendo la identidad institucional. 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BD089-1438-47E9-952F-34A617A14AA1}"/>
              </a:ext>
            </a:extLst>
          </p:cNvPr>
          <p:cNvGrpSpPr/>
          <p:nvPr/>
        </p:nvGrpSpPr>
        <p:grpSpPr>
          <a:xfrm>
            <a:off x="8241722" y="5100198"/>
            <a:ext cx="3072107" cy="578358"/>
            <a:chOff x="928393" y="5195567"/>
            <a:chExt cx="3072107" cy="578358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9426E564-209E-4826-8CD3-0287301D01A1}"/>
                </a:ext>
              </a:extLst>
            </p:cNvPr>
            <p:cNvGrpSpPr/>
            <p:nvPr/>
          </p:nvGrpSpPr>
          <p:grpSpPr>
            <a:xfrm>
              <a:off x="928393" y="5195567"/>
              <a:ext cx="457200" cy="457200"/>
              <a:chOff x="928393" y="5195567"/>
              <a:chExt cx="457200" cy="457200"/>
            </a:xfrm>
          </p:grpSpPr>
          <p:sp>
            <p:nvSpPr>
              <p:cNvPr id="203" name="Google Shape;203;p4"/>
              <p:cNvSpPr/>
              <p:nvPr/>
            </p:nvSpPr>
            <p:spPr>
              <a:xfrm>
                <a:off x="928393" y="5195567"/>
                <a:ext cx="457200" cy="457200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204" name="Google Shape;204;p4" descr="preencoded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051837" y="5319011"/>
                <a:ext cx="210312" cy="210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5" name="Google Shape;205;p4"/>
            <p:cNvSpPr/>
            <p:nvPr/>
          </p:nvSpPr>
          <p:spPr>
            <a:xfrm>
              <a:off x="1454173" y="5197853"/>
              <a:ext cx="2308202" cy="246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100" b="1" dirty="0">
                  <a:solidFill>
                    <a:schemeClr val="dk1"/>
                  </a:solidFill>
                </a:rPr>
                <a:t>Control de acceso y auditoría</a:t>
              </a: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1454173" y="5444741"/>
              <a:ext cx="2546327" cy="329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0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Una administración centralizada de permisos y registro de actividades en toda la plataforma.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CF7BDFA7-831D-4748-8F8E-4697B8119A58}"/>
              </a:ext>
            </a:extLst>
          </p:cNvPr>
          <p:cNvGrpSpPr/>
          <p:nvPr/>
        </p:nvGrpSpPr>
        <p:grpSpPr>
          <a:xfrm>
            <a:off x="6622952" y="5898226"/>
            <a:ext cx="2801216" cy="620370"/>
            <a:chOff x="932782" y="5818467"/>
            <a:chExt cx="2801216" cy="620370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2FD19C86-235A-4D01-BD28-A55C6DEBFFC4}"/>
                </a:ext>
              </a:extLst>
            </p:cNvPr>
            <p:cNvGrpSpPr/>
            <p:nvPr/>
          </p:nvGrpSpPr>
          <p:grpSpPr>
            <a:xfrm>
              <a:off x="932782" y="5818467"/>
              <a:ext cx="457200" cy="457200"/>
              <a:chOff x="868957" y="5819645"/>
              <a:chExt cx="457200" cy="457200"/>
            </a:xfrm>
          </p:grpSpPr>
          <p:sp>
            <p:nvSpPr>
              <p:cNvPr id="207" name="Google Shape;207;p4"/>
              <p:cNvSpPr/>
              <p:nvPr/>
            </p:nvSpPr>
            <p:spPr>
              <a:xfrm>
                <a:off x="868957" y="5819645"/>
                <a:ext cx="457200" cy="457200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208" name="Google Shape;208;p4" descr="preencoded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992401" y="5943089"/>
                <a:ext cx="210312" cy="210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9" name="Google Shape;209;p4"/>
            <p:cNvSpPr/>
            <p:nvPr/>
          </p:nvSpPr>
          <p:spPr>
            <a:xfrm>
              <a:off x="1454173" y="5818467"/>
              <a:ext cx="2279825" cy="227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100" b="1" dirty="0">
                  <a:solidFill>
                    <a:schemeClr val="dk1"/>
                  </a:solidFill>
                </a:rPr>
                <a:t>Un entorno institucional integrado</a:t>
              </a:r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1454173" y="6066533"/>
              <a:ext cx="2174852" cy="3723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0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Procesos que comparten información y mantienen un seguimiento ordenado.</a:t>
              </a:r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008F603E-83EA-47BD-A13E-968E965A90B3}"/>
              </a:ext>
            </a:extLst>
          </p:cNvPr>
          <p:cNvGrpSpPr/>
          <p:nvPr/>
        </p:nvGrpSpPr>
        <p:grpSpPr>
          <a:xfrm>
            <a:off x="6622952" y="2182610"/>
            <a:ext cx="4480560" cy="713232"/>
            <a:chOff x="6400800" y="3835397"/>
            <a:chExt cx="4480560" cy="713232"/>
          </a:xfrm>
        </p:grpSpPr>
        <p:sp>
          <p:nvSpPr>
            <p:cNvPr id="66" name="Google Shape;175;p4">
              <a:extLst>
                <a:ext uri="{FF2B5EF4-FFF2-40B4-BE49-F238E27FC236}">
                  <a16:creationId xmlns:a16="http://schemas.microsoft.com/office/drawing/2014/main" id="{BE8C499F-D1AF-438E-BCE2-33E8478FB3B0}"/>
                </a:ext>
              </a:extLst>
            </p:cNvPr>
            <p:cNvSpPr/>
            <p:nvPr/>
          </p:nvSpPr>
          <p:spPr>
            <a:xfrm>
              <a:off x="6400800" y="3835397"/>
              <a:ext cx="4480560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9050" cap="flat" cmpd="sng">
              <a:solidFill>
                <a:srgbClr val="B882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36EEA947-8344-4226-98CA-F8C938BA8EB2}"/>
                </a:ext>
              </a:extLst>
            </p:cNvPr>
            <p:cNvGrpSpPr/>
            <p:nvPr/>
          </p:nvGrpSpPr>
          <p:grpSpPr>
            <a:xfrm>
              <a:off x="6656832" y="3835397"/>
              <a:ext cx="4224528" cy="713232"/>
              <a:chOff x="6656832" y="3835397"/>
              <a:chExt cx="4224528" cy="713232"/>
            </a:xfrm>
          </p:grpSpPr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46B45ABC-C9AC-4F85-825A-3BDF3E82EDAF}"/>
                  </a:ext>
                </a:extLst>
              </p:cNvPr>
              <p:cNvGrpSpPr/>
              <p:nvPr/>
            </p:nvGrpSpPr>
            <p:grpSpPr>
              <a:xfrm>
                <a:off x="6656832" y="3954269"/>
                <a:ext cx="475488" cy="475488"/>
                <a:chOff x="6656832" y="3954269"/>
                <a:chExt cx="475488" cy="475488"/>
              </a:xfrm>
            </p:grpSpPr>
            <p:sp>
              <p:nvSpPr>
                <p:cNvPr id="70" name="Google Shape;176;p4">
                  <a:extLst>
                    <a:ext uri="{FF2B5EF4-FFF2-40B4-BE49-F238E27FC236}">
                      <a16:creationId xmlns:a16="http://schemas.microsoft.com/office/drawing/2014/main" id="{C7C0DE50-B06B-4C6B-8F5D-BA8BEE1746E1}"/>
                    </a:ext>
                  </a:extLst>
                </p:cNvPr>
                <p:cNvSpPr/>
                <p:nvPr/>
              </p:nvSpPr>
              <p:spPr>
                <a:xfrm>
                  <a:off x="6656832" y="3954269"/>
                  <a:ext cx="475488" cy="475488"/>
                </a:xfrm>
                <a:prstGeom prst="ellipse">
                  <a:avLst/>
                </a:prstGeom>
                <a:solidFill>
                  <a:srgbClr val="F8F1F3"/>
                </a:solidFill>
                <a:ln>
                  <a:solidFill>
                    <a:srgbClr val="F8F1F3"/>
                  </a:solidFill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s-MX"/>
                </a:p>
              </p:txBody>
            </p:sp>
            <p:pic>
              <p:nvPicPr>
                <p:cNvPr id="71" name="Google Shape;177;p4" descr="preencoded.png">
                  <a:extLst>
                    <a:ext uri="{FF2B5EF4-FFF2-40B4-BE49-F238E27FC236}">
                      <a16:creationId xmlns:a16="http://schemas.microsoft.com/office/drawing/2014/main" id="{C0DB3C71-5DA6-4E9D-A638-002FC1C7681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785214" y="4082651"/>
                  <a:ext cx="218724" cy="21872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69" name="Google Shape;178;p4">
                <a:extLst>
                  <a:ext uri="{FF2B5EF4-FFF2-40B4-BE49-F238E27FC236}">
                    <a16:creationId xmlns:a16="http://schemas.microsoft.com/office/drawing/2014/main" id="{4E2B0912-404C-405F-A5AD-0C0B1B31C17A}"/>
                  </a:ext>
                </a:extLst>
              </p:cNvPr>
              <p:cNvSpPr/>
              <p:nvPr/>
            </p:nvSpPr>
            <p:spPr>
              <a:xfrm>
                <a:off x="7269480" y="3835397"/>
                <a:ext cx="3611880" cy="713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5B132B"/>
                  </a:buClr>
                  <a:buSzPts val="1250"/>
                  <a:buFont typeface="Montserrat"/>
                  <a:buNone/>
                </a:pPr>
                <a:r>
                  <a:rPr lang="es-MX" sz="1200" b="1" dirty="0">
                    <a:solidFill>
                      <a:srgbClr val="3D001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GSTS</a:t>
                </a:r>
                <a:r>
                  <a:rPr lang="es-MX" sz="1250" b="1" dirty="0">
                    <a:solidFill>
                      <a:srgbClr val="5B132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— Constancias de no registro y no adeudo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530731" y="1196580"/>
            <a:ext cx="4584194" cy="42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0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FUNCIONAMIENTO COORDINADO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050024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endParaRPr lang="es-MX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C0188C52-54D4-4BBE-9771-863F5C117020}"/>
              </a:ext>
            </a:extLst>
          </p:cNvPr>
          <p:cNvGrpSpPr/>
          <p:nvPr/>
        </p:nvGrpSpPr>
        <p:grpSpPr>
          <a:xfrm>
            <a:off x="8829673" y="4841411"/>
            <a:ext cx="3048382" cy="1685975"/>
            <a:chOff x="941450" y="4664877"/>
            <a:chExt cx="3048382" cy="1685975"/>
          </a:xfrm>
        </p:grpSpPr>
        <p:sp>
          <p:nvSpPr>
            <p:cNvPr id="148" name="Google Shape;148;p3"/>
            <p:cNvSpPr/>
            <p:nvPr/>
          </p:nvSpPr>
          <p:spPr>
            <a:xfrm>
              <a:off x="941450" y="4664877"/>
              <a:ext cx="3048382" cy="1634404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2700" cap="flat" cmpd="sng">
              <a:solidFill>
                <a:srgbClr val="E6E1E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89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34CA9046-FC7D-470F-AECB-094634EDCFDC}"/>
                </a:ext>
              </a:extLst>
            </p:cNvPr>
            <p:cNvGrpSpPr/>
            <p:nvPr/>
          </p:nvGrpSpPr>
          <p:grpSpPr>
            <a:xfrm>
              <a:off x="1162339" y="4939197"/>
              <a:ext cx="566928" cy="566928"/>
              <a:chOff x="1162339" y="4939197"/>
              <a:chExt cx="566928" cy="566928"/>
            </a:xfrm>
          </p:grpSpPr>
          <p:sp>
            <p:nvSpPr>
              <p:cNvPr id="149" name="Google Shape;149;p3"/>
              <p:cNvSpPr/>
              <p:nvPr/>
            </p:nvSpPr>
            <p:spPr>
              <a:xfrm>
                <a:off x="1162339" y="4939197"/>
                <a:ext cx="566928" cy="566928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50" name="Google Shape;150;p3" descr="preencoded.png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315410" y="5092268"/>
                <a:ext cx="260787" cy="2607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1" name="Google Shape;151;p3"/>
            <p:cNvSpPr/>
            <p:nvPr/>
          </p:nvSpPr>
          <p:spPr>
            <a:xfrm>
              <a:off x="1893950" y="4939197"/>
              <a:ext cx="1931289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D0017"/>
                </a:buClr>
                <a:buSzPts val="1500"/>
                <a:buFont typeface="Montserrat"/>
                <a:buNone/>
              </a:pPr>
              <a:r>
                <a:rPr lang="es-MX" sz="1500" b="1" dirty="0">
                  <a:solidFill>
                    <a:srgbClr val="3D00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 aprovecha lo ya capturado</a:t>
              </a:r>
              <a:endParaRPr lang="es-MX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162338" y="5615853"/>
              <a:ext cx="2534885" cy="734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44245"/>
                </a:buClr>
                <a:buSzPts val="1250"/>
                <a:buFont typeface="Calibri"/>
                <a:buNone/>
              </a:pPr>
              <a:r>
                <a:rPr lang="es-MX" sz="12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La información capturada durante el trámite no se vuelve a registrar entre áreas.</a:t>
              </a:r>
              <a:endParaRPr lang="es-MX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FC256D1C-71F0-4287-A7C7-598482B7B7DA}"/>
              </a:ext>
            </a:extLst>
          </p:cNvPr>
          <p:cNvGrpSpPr/>
          <p:nvPr/>
        </p:nvGrpSpPr>
        <p:grpSpPr>
          <a:xfrm>
            <a:off x="8829674" y="3029622"/>
            <a:ext cx="3048381" cy="1634404"/>
            <a:chOff x="4737734" y="4664877"/>
            <a:chExt cx="3048381" cy="1634404"/>
          </a:xfrm>
        </p:grpSpPr>
        <p:sp>
          <p:nvSpPr>
            <p:cNvPr id="153" name="Google Shape;153;p3"/>
            <p:cNvSpPr/>
            <p:nvPr/>
          </p:nvSpPr>
          <p:spPr>
            <a:xfrm>
              <a:off x="4737734" y="4664877"/>
              <a:ext cx="3048381" cy="1634404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2700" cap="flat" cmpd="sng">
              <a:solidFill>
                <a:srgbClr val="E6E1E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89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C8D8AB39-DC50-4EDE-942B-821B4766B412}"/>
                </a:ext>
              </a:extLst>
            </p:cNvPr>
            <p:cNvGrpSpPr/>
            <p:nvPr/>
          </p:nvGrpSpPr>
          <p:grpSpPr>
            <a:xfrm>
              <a:off x="4958622" y="4939197"/>
              <a:ext cx="566928" cy="566928"/>
              <a:chOff x="4958622" y="4939197"/>
              <a:chExt cx="566928" cy="566928"/>
            </a:xfrm>
          </p:grpSpPr>
          <p:sp>
            <p:nvSpPr>
              <p:cNvPr id="154" name="Google Shape;154;p3"/>
              <p:cNvSpPr/>
              <p:nvPr/>
            </p:nvSpPr>
            <p:spPr>
              <a:xfrm>
                <a:off x="4958622" y="4939197"/>
                <a:ext cx="566928" cy="566928"/>
              </a:xfrm>
              <a:prstGeom prst="ellipse">
                <a:avLst/>
              </a:prstGeom>
              <a:solidFill>
                <a:srgbClr val="B882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dirty="0"/>
              </a:p>
            </p:txBody>
          </p:sp>
          <p:pic>
            <p:nvPicPr>
              <p:cNvPr id="155" name="Google Shape;155;p3" descr="preencoded.png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111693" y="5092268"/>
                <a:ext cx="260787" cy="2607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6" name="Google Shape;156;p3"/>
            <p:cNvSpPr/>
            <p:nvPr/>
          </p:nvSpPr>
          <p:spPr>
            <a:xfrm>
              <a:off x="5690234" y="4939197"/>
              <a:ext cx="1931289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D0017"/>
                </a:buClr>
                <a:buSzPts val="1500"/>
                <a:buFont typeface="Montserrat"/>
                <a:buNone/>
              </a:pPr>
              <a:r>
                <a:rPr lang="es-MX" sz="1200" b="1" dirty="0">
                  <a:solidFill>
                    <a:srgbClr val="3D00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Sin procesos complejos para el ciudadano</a:t>
              </a:r>
              <a:endParaRPr lang="es-MX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4958622" y="5615853"/>
              <a:ext cx="2534886" cy="581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44245"/>
                </a:buClr>
                <a:buSzPts val="1250"/>
                <a:buFont typeface="Calibri"/>
                <a:buNone/>
              </a:pPr>
              <a:r>
                <a:rPr lang="es-MX" sz="12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El usuario no necesita trámites adicionales para solicitar su factura.</a:t>
              </a:r>
              <a:endParaRPr lang="es-MX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54436185-8420-494F-846A-DF3C4A49C124}"/>
              </a:ext>
            </a:extLst>
          </p:cNvPr>
          <p:cNvGrpSpPr/>
          <p:nvPr/>
        </p:nvGrpSpPr>
        <p:grpSpPr>
          <a:xfrm>
            <a:off x="8829674" y="1242147"/>
            <a:ext cx="3048381" cy="1634404"/>
            <a:chOff x="8338946" y="4726592"/>
            <a:chExt cx="3048381" cy="1634404"/>
          </a:xfrm>
        </p:grpSpPr>
        <p:sp>
          <p:nvSpPr>
            <p:cNvPr id="158" name="Google Shape;158;p3"/>
            <p:cNvSpPr/>
            <p:nvPr/>
          </p:nvSpPr>
          <p:spPr>
            <a:xfrm>
              <a:off x="8338946" y="4726592"/>
              <a:ext cx="3048381" cy="1634404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2700" cap="flat" cmpd="sng">
              <a:solidFill>
                <a:srgbClr val="E6E1E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89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C9391FCC-44CF-496E-9C1D-08C468BF6F62}"/>
                </a:ext>
              </a:extLst>
            </p:cNvPr>
            <p:cNvGrpSpPr/>
            <p:nvPr/>
          </p:nvGrpSpPr>
          <p:grpSpPr>
            <a:xfrm>
              <a:off x="8559925" y="4914348"/>
              <a:ext cx="566928" cy="566928"/>
              <a:chOff x="8559925" y="4914348"/>
              <a:chExt cx="566928" cy="566928"/>
            </a:xfrm>
          </p:grpSpPr>
          <p:sp>
            <p:nvSpPr>
              <p:cNvPr id="159" name="Google Shape;159;p3"/>
              <p:cNvSpPr/>
              <p:nvPr/>
            </p:nvSpPr>
            <p:spPr>
              <a:xfrm>
                <a:off x="8559925" y="4914348"/>
                <a:ext cx="566928" cy="566928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60" name="Google Shape;160;p3" descr="preencoded.p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712996" y="5067419"/>
                <a:ext cx="260787" cy="2607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1" name="Google Shape;161;p3"/>
            <p:cNvSpPr/>
            <p:nvPr/>
          </p:nvSpPr>
          <p:spPr>
            <a:xfrm>
              <a:off x="9291446" y="4939197"/>
              <a:ext cx="2095881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D0017"/>
                </a:buClr>
                <a:buSzPts val="1500"/>
                <a:buFont typeface="Montserrat"/>
                <a:buNone/>
              </a:pPr>
              <a:r>
                <a:rPr lang="es-MX" sz="1200" b="1" dirty="0">
                  <a:solidFill>
                    <a:srgbClr val="3D00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Resultado conservado y consultable</a:t>
              </a:r>
              <a:endParaRPr lang="es-MX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8559924" y="5615853"/>
              <a:ext cx="2699387" cy="678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44245"/>
                </a:buClr>
                <a:buSzPts val="1250"/>
                <a:buFont typeface="Calibri"/>
                <a:buNone/>
              </a:pPr>
              <a:r>
                <a:rPr lang="es-MX" sz="12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El Timbrado Fiscal devuelve el resultado a GAF para su conservación y consulta desde el expediente.</a:t>
              </a:r>
              <a:endParaRPr lang="es-MX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" name="Imagen 14" descr="Diagrama&#10;&#10;El contenido generado por IA puede ser incorrecto.">
            <a:extLst>
              <a:ext uri="{FF2B5EF4-FFF2-40B4-BE49-F238E27FC236}">
                <a16:creationId xmlns:a16="http://schemas.microsoft.com/office/drawing/2014/main" id="{11C0ECEE-0543-4FB8-9CC0-CCB9DAD99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016" y="1738216"/>
            <a:ext cx="7870424" cy="3320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/>
          <p:nvPr/>
        </p:nvSpPr>
        <p:spPr>
          <a:xfrm>
            <a:off x="548640" y="121532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BENEFICIOS INSTITUCIONALES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48640" y="148964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gana la institución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48640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89" name="Google Shape;289;p7"/>
          <p:cNvSpPr/>
          <p:nvPr/>
        </p:nvSpPr>
        <p:spPr>
          <a:xfrm>
            <a:off x="822960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0" name="Google Shape;290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031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7"/>
          <p:cNvSpPr/>
          <p:nvPr/>
        </p:nvSpPr>
        <p:spPr>
          <a:xfrm>
            <a:off x="1554480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Seguimiento completo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841248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A los trámites y solicitudes, de principio a fin.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416552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4" name="Google Shape;294;p7"/>
          <p:cNvSpPr/>
          <p:nvPr/>
        </p:nvSpPr>
        <p:spPr>
          <a:xfrm>
            <a:off x="4690872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5" name="Google Shape;2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3943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7"/>
          <p:cNvSpPr/>
          <p:nvPr/>
        </p:nvSpPr>
        <p:spPr>
          <a:xfrm>
            <a:off x="5422392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Menos dispersión y capturas repetidas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709160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Reduce la dispersión de información entre áreas y sistemas.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8284464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9" name="Google Shape;299;p7"/>
          <p:cNvSpPr/>
          <p:nvPr/>
        </p:nvSpPr>
        <p:spPr>
          <a:xfrm>
            <a:off x="8558784" y="25931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0" name="Google Shape;300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11855" y="27461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/>
          <p:nvPr/>
        </p:nvSpPr>
        <p:spPr>
          <a:xfrm>
            <a:off x="9290304" y="25931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Historial y documentación conservada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8577072" y="32697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Mantiene un historial de acciones y facilita su consulta.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548640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4" name="Google Shape;304;p7"/>
          <p:cNvSpPr/>
          <p:nvPr/>
        </p:nvSpPr>
        <p:spPr>
          <a:xfrm>
            <a:off x="822960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5" name="Google Shape;305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031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/>
          <p:nvPr/>
        </p:nvSpPr>
        <p:spPr>
          <a:xfrm>
            <a:off x="1554480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Mayor capacidad de supervisión y rectoría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841248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Información propia y oportuna para decisiones, sin depender de terceros.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416552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9" name="Google Shape;309;p7"/>
          <p:cNvSpPr/>
          <p:nvPr/>
        </p:nvSpPr>
        <p:spPr>
          <a:xfrm>
            <a:off x="4690872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0" name="Google Shape;310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43943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"/>
          <p:cNvSpPr/>
          <p:nvPr/>
        </p:nvSpPr>
        <p:spPr>
          <a:xfrm>
            <a:off x="5422392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Trazabilidad de cambios y decisiones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4709160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Mejor respuesta ante auditorías, órganos fiscalizadores y el Congreso.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8284464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14" name="Google Shape;314;p7"/>
          <p:cNvSpPr/>
          <p:nvPr/>
        </p:nvSpPr>
        <p:spPr>
          <a:xfrm>
            <a:off x="8558784" y="46505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5" name="Google Shape;315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11855" y="48035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7"/>
          <p:cNvSpPr/>
          <p:nvPr/>
        </p:nvSpPr>
        <p:spPr>
          <a:xfrm>
            <a:off x="9290304" y="46505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Mejor atención ciudadana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8577072" y="53271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Y una base común para digitalizar nuevos procesos.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100000"/>
            <a:ext cx="2258568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GSTS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MÓDULO DE CONSTANCIAS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480000"/>
            <a:ext cx="2547360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trámite, unificado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300000"/>
            <a:ext cx="2258568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Concentra la solicitud, los documentos, las validaciones, el cobro y la entrega de la constancia en un solo lugar, con seguimiento claro de principio a fin. Primera función de GSTS como base informática de la Gerencia.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6000" y="3350000"/>
            <a:ext cx="700000" cy="7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48" y="1106025"/>
            <a:ext cx="8373112" cy="559131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471332" y="3100000"/>
            <a:ext cx="2304288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GAF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MÓDULO DE FACTURACIÓN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71332" y="3480000"/>
            <a:ext cx="2029968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La factura, ordenada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71332" y="4300000"/>
            <a:ext cx="2304288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Concentra y da seguimiento a las solicitudes de constancias, permisos de descarga, multas y otros conceptos: datos fiscales, pago, validaciones y documentos, hasta la emisión o cancelación de la factura.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153348-1A7A-4888-8B71-F9F7BE618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230" y="1108325"/>
            <a:ext cx="7132304" cy="54569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717644" y="3100000"/>
            <a:ext cx="2432304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TIMBRADO FISCAL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TIMBRADO FISCAL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717644" y="3480000"/>
            <a:ext cx="2221992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sello fiscal final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717644" y="4300000"/>
            <a:ext cx="2432304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Recibe de GAF las facturas ya revisadas, realiza el timbrado y devuelve la información generada para su conservación y consulta. A futuro, disponible para otros procesos de SOAPAP que requieran emitir comprobantes fiscales.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79AE043-1E86-49FE-A400-C1D27DFB7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15" y="1233788"/>
            <a:ext cx="2711159" cy="519379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00000"/>
            <a:ext cx="2276856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PÁGINA WEB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1" y="3480000"/>
            <a:ext cx="3513964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La puerta de entrada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4300000"/>
            <a:ext cx="2276856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Punto de entrada para solicitudes de facturación sin proceso digitalizado y para la verificación administrativa de constancias emitidas por GSTS, mediante dos rutas: /constancias/[ID] y /facturacion.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F560A7-9EBE-4CB0-900F-4849FCD7F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07" r="11886"/>
          <a:stretch/>
        </p:blipFill>
        <p:spPr>
          <a:xfrm>
            <a:off x="5300664" y="1112993"/>
            <a:ext cx="5419725" cy="549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87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548640" y="123378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PROYECCIÓN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48640" y="150810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La base para lo que sigue, no el destino final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Picture 169" descr="proyecc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235197"/>
            <a:ext cx="11094720" cy="43146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"/>
          <p:cNvSpPr/>
          <p:nvPr/>
        </p:nvSpPr>
        <p:spPr>
          <a:xfrm>
            <a:off x="548640" y="112294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n-US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AVANCE REAL vs. LO PROPUESTO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48640" y="1397261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¿Qué tanto existe hoy de lo descrito?</a:t>
            </a:r>
            <a:r>
              <a:rPr lang="es-MX" sz="1200" b="0" i="1" dirty="0">
                <a:solidFill>
                  <a:srgbClr val="544245"/>
                </a:solidFill>
                <a:latin typeface="Calibri"/>
              </a:rPr>
              <a:t>.</a:t>
            </a:r>
          </a:p>
        </p:txBody>
      </p:sp>
      <p:cxnSp>
        <p:nvCxnSpPr>
          <p:cNvPr id="339" name="Google Shape;339;p10"/>
          <p:cNvCxnSpPr/>
          <p:nvPr/>
        </p:nvCxnSpPr>
        <p:spPr>
          <a:xfrm>
            <a:off x="379476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p10"/>
          <p:cNvCxnSpPr/>
          <p:nvPr/>
        </p:nvCxnSpPr>
        <p:spPr>
          <a:xfrm>
            <a:off x="478345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" name="Google Shape;341;p10"/>
          <p:cNvCxnSpPr/>
          <p:nvPr/>
        </p:nvCxnSpPr>
        <p:spPr>
          <a:xfrm>
            <a:off x="577215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2" name="Google Shape;342;p10"/>
          <p:cNvCxnSpPr/>
          <p:nvPr/>
        </p:nvCxnSpPr>
        <p:spPr>
          <a:xfrm>
            <a:off x="676084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3" name="Google Shape;343;p10"/>
          <p:cNvCxnSpPr/>
          <p:nvPr/>
        </p:nvCxnSpPr>
        <p:spPr>
          <a:xfrm>
            <a:off x="774954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4" name="Google Shape;344;p10"/>
          <p:cNvCxnSpPr/>
          <p:nvPr/>
        </p:nvCxnSpPr>
        <p:spPr>
          <a:xfrm>
            <a:off x="873823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" name="Google Shape;345;p10"/>
          <p:cNvCxnSpPr/>
          <p:nvPr/>
        </p:nvCxnSpPr>
        <p:spPr>
          <a:xfrm>
            <a:off x="972693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10"/>
          <p:cNvCxnSpPr/>
          <p:nvPr/>
        </p:nvCxnSpPr>
        <p:spPr>
          <a:xfrm>
            <a:off x="1071562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10"/>
          <p:cNvCxnSpPr/>
          <p:nvPr/>
        </p:nvCxnSpPr>
        <p:spPr>
          <a:xfrm>
            <a:off x="1170432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" name="Google Shape;348;p10"/>
          <p:cNvSpPr/>
          <p:nvPr/>
        </p:nvSpPr>
        <p:spPr>
          <a:xfrm>
            <a:off x="379476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77215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774954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972693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10715625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548640" y="2960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GSTS — Constancias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794759" y="2949281"/>
            <a:ext cx="6981823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548640" y="3851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GAF — Facturación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3794759" y="3840281"/>
            <a:ext cx="3497347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548640" y="4742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Módulo de Timbrado Fiscal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3794760" y="4731281"/>
            <a:ext cx="1186434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548640" y="5633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Página Web Institucional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794760" y="5622281"/>
            <a:ext cx="790956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TextBox 363"/>
          <p:cNvSpPr txBox="1"/>
          <p:nvPr/>
        </p:nvSpPr>
        <p:spPr>
          <a:xfrm>
            <a:off x="11022677" y="2876480"/>
            <a:ext cx="6206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1600" b="1" dirty="0">
                <a:solidFill>
                  <a:srgbClr val="3D0017"/>
                </a:solidFill>
                <a:latin typeface="Montserrat"/>
              </a:rPr>
              <a:t>8</a:t>
            </a:r>
            <a:r>
              <a:rPr sz="1600" b="1" dirty="0">
                <a:solidFill>
                  <a:srgbClr val="3D0017"/>
                </a:solidFill>
                <a:latin typeface="Montserrat"/>
              </a:rPr>
              <a:t>5%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7599159" y="3840281"/>
            <a:ext cx="6447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1600" b="1" dirty="0">
                <a:solidFill>
                  <a:srgbClr val="3D0017"/>
                </a:solidFill>
                <a:latin typeface="Montserrat"/>
              </a:rPr>
              <a:t>4</a:t>
            </a:r>
            <a:r>
              <a:rPr sz="1600" b="1" dirty="0">
                <a:solidFill>
                  <a:srgbClr val="3D0017"/>
                </a:solidFill>
                <a:latin typeface="Montserrat"/>
              </a:rPr>
              <a:t>0%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101194" y="4671281"/>
            <a:ext cx="7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D0017"/>
                </a:solidFill>
                <a:latin typeface="Montserrat"/>
              </a:rPr>
              <a:t>15%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4705716" y="5562281"/>
            <a:ext cx="7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D0017"/>
                </a:solidFill>
                <a:latin typeface="Montserrat"/>
              </a:rPr>
              <a:t>10%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4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¡Gracias!</a:t>
            </a:r>
            <a:endParaRPr lang="es-MX" sz="3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Departamento de Informática   ·   SOAPAP</a:t>
            </a:r>
            <a:endParaRPr lang="es-MX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PA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989</Words>
  <Application>Microsoft Office PowerPoint</Application>
  <PresentationFormat>Panorámica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Montserrat</vt:lpstr>
      <vt:lpstr>Arial</vt:lpstr>
      <vt:lpstr>Symbol</vt:lpstr>
      <vt:lpstr>Calibri</vt:lpstr>
      <vt:lpstr>SOAPAP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SOAPAP — Departamento de Informática</dc:creator>
  <cp:lastModifiedBy>Plataforma_03</cp:lastModifiedBy>
  <cp:revision>37</cp:revision>
  <dcterms:created xsi:type="dcterms:W3CDTF">2026-06-29T07:33:55Z</dcterms:created>
  <dcterms:modified xsi:type="dcterms:W3CDTF">2026-08-27T13:02:41Z</dcterms:modified>
</cp:coreProperties>
</file>