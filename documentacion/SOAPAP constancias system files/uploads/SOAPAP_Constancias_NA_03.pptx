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9" r:id="rId13"/>
    <p:sldId id="270" r:id="rId14"/>
    <p:sldId id="273" r:id="rId15"/>
    <p:sldId id="274" r:id="rId16"/>
    <p:sldId id="266" r:id="rId17"/>
    <p:sldId id="267" r:id="rId18"/>
  </p:sldIdLst>
  <p:sldSz cx="12192000" cy="6858000"/>
  <p:notesSz cx="6858000" cy="12192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hMEG68pCdPr1NCh9eRW8UTWnVy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00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2d431b908_8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2d431b908_8_1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ctrTitle"/>
          </p:nvPr>
        </p:nvSpPr>
        <p:spPr>
          <a:xfrm>
            <a:off x="1524000" y="143291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ubTitle" idx="1"/>
          </p:nvPr>
        </p:nvSpPr>
        <p:spPr>
          <a:xfrm>
            <a:off x="1524000" y="391258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17" name="Google Shape;17;p13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18" name="Google Shape;18;p13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13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13" descr="Texto  El contenido generado por IA puede ser incorrecto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467186" y="55528"/>
              <a:ext cx="1657093" cy="974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13" descr="Logotipo, nombre de la empresa  El contenido generado por IA puede ser incorrecto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381665" y="63482"/>
              <a:ext cx="1800098" cy="105888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" name="Google Shape;22;p13"/>
            <p:cNvCxnSpPr/>
            <p:nvPr/>
          </p:nvCxnSpPr>
          <p:spPr>
            <a:xfrm>
              <a:off x="2838493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3" name="Google Shape;23;p13"/>
            <p:cNvCxnSpPr/>
            <p:nvPr/>
          </p:nvCxnSpPr>
          <p:spPr>
            <a:xfrm>
              <a:off x="5752972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4" name="Google Shape;24;p13"/>
            <p:cNvCxnSpPr/>
            <p:nvPr/>
          </p:nvCxnSpPr>
          <p:spPr>
            <a:xfrm>
              <a:off x="8810456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838200" y="12968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body" idx="1"/>
          </p:nvPr>
        </p:nvSpPr>
        <p:spPr>
          <a:xfrm>
            <a:off x="838200" y="2743199"/>
            <a:ext cx="10515600" cy="3433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31" name="Google Shape;31;p14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32" name="Google Shape;32;p14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14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40" name="Google Shape;40;p15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41" name="Google Shape;41;p15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15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838200" y="144871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838200" y="2915727"/>
            <a:ext cx="5181600" cy="3261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2"/>
          </p:nvPr>
        </p:nvSpPr>
        <p:spPr>
          <a:xfrm>
            <a:off x="6172200" y="2915727"/>
            <a:ext cx="5181600" cy="3261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50" name="Google Shape;50;p16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51" name="Google Shape;51;p16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16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8200" y="17453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58" name="Google Shape;58;p17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59" name="Google Shape;59;p17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7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6612" y="1293962"/>
            <a:ext cx="3932237" cy="1542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body" idx="1"/>
          </p:nvPr>
        </p:nvSpPr>
        <p:spPr>
          <a:xfrm>
            <a:off x="5183188" y="1293963"/>
            <a:ext cx="6172200" cy="4567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body" idx="2"/>
          </p:nvPr>
        </p:nvSpPr>
        <p:spPr>
          <a:xfrm>
            <a:off x="839788" y="2856601"/>
            <a:ext cx="3932237" cy="301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68" name="Google Shape;68;p18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69" name="Google Shape;69;p18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18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836612" y="1302588"/>
            <a:ext cx="3932237" cy="1440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>
            <a:spLocks noGrp="1"/>
          </p:cNvSpPr>
          <p:nvPr>
            <p:ph type="pic" idx="2"/>
          </p:nvPr>
        </p:nvSpPr>
        <p:spPr>
          <a:xfrm>
            <a:off x="5183188" y="2182483"/>
            <a:ext cx="6172200" cy="3678567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>
            <a:off x="839788" y="2743200"/>
            <a:ext cx="3932237" cy="312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78" name="Google Shape;78;p19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79" name="Google Shape;79;p19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9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8.png"/><Relationship Id="rId4" Type="http://schemas.openxmlformats.org/officeDocument/2006/relationships/image" Target="../media/image20.pn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5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7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68382" y="177302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658375" y="1657350"/>
            <a:ext cx="11105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Ecosistema digital SOAPAP:</a:t>
            </a: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endParaRPr lang="es-MX" sz="3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Modulo 1: </a:t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Sistema Integra</a:t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 Constancias</a:t>
            </a:r>
            <a:endParaRPr lang="es-MX"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 No Adeudo, </a:t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egistro y Facturación </a:t>
            </a:r>
            <a:endParaRPr lang="es-MX"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58368" y="5943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i="0" u="none" strike="noStrike" cap="none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Departamento de Informática   ·   Junio 2026</a:t>
            </a:r>
            <a:endParaRPr lang="es-MX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548640" y="1269561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01 · ANTECEDENTES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48640" y="1461585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El contexto que da origen a este proyecto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48640" y="2189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98" name="Google Shape;98;p2"/>
          <p:cNvSpPr/>
          <p:nvPr/>
        </p:nvSpPr>
        <p:spPr>
          <a:xfrm>
            <a:off x="822960" y="2463803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99" name="Google Shape;99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6031" y="2616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1554480" y="2463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Mandato institucional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41248" y="3140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El Sistema Operador de los Servicios de Agua Potable y Alcantarillado del Municipio de Puebla tiene la facultad de validar si un predio tiene una cuenta sin adeudos, cumpliendo la normativa vigente.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217920" y="2189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03" name="Google Shape;103;p2"/>
          <p:cNvSpPr/>
          <p:nvPr/>
        </p:nvSpPr>
        <p:spPr>
          <a:xfrm>
            <a:off x="6492240" y="2463803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04" name="Google Shape;104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5311" y="2616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/>
          <p:nvPr/>
        </p:nvSpPr>
        <p:spPr>
          <a:xfrm>
            <a:off x="7223760" y="2463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Una constancia con alta demanda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510528" y="3140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Las constancias de no adeudo o no registro son solicitadas constantemente para notarías, trámites y procesos administrativos.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548640" y="4475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08" name="Google Shape;108;p2"/>
          <p:cNvSpPr/>
          <p:nvPr/>
        </p:nvSpPr>
        <p:spPr>
          <a:xfrm>
            <a:off x="822960" y="4749803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09" name="Google Shape;109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6031" y="4902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/>
          <p:nvPr/>
        </p:nvSpPr>
        <p:spPr>
          <a:xfrm>
            <a:off x="1554480" y="4749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Obligación fiscal con el SAT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841248" y="5426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Toda facturación debe cumplir el estándar CFDI 4.0 vigente, lo que exige procesos de timbrado certificados y trazables.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6217920" y="4475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13" name="Google Shape;113;p2"/>
          <p:cNvSpPr/>
          <p:nvPr/>
        </p:nvSpPr>
        <p:spPr>
          <a:xfrm>
            <a:off x="6492240" y="4749803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14" name="Google Shape;114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45311" y="4902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/>
          <p:nvPr/>
        </p:nvSpPr>
        <p:spPr>
          <a:xfrm>
            <a:off x="7223760" y="4749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Primer paso de una estrategia mayor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510528" y="5426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Este proyecto es el Módulo 1 del Ecosistema Digital SOAPAP: una plataforma diseñada para crecer, no para reconstruirse en cada necesidad.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548640" y="1269561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02 · DESAFÍO OPERATIVO ACTUAL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48640" y="1461585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Un proceso manual, lento y sin trazabilidad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48640" y="2189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98" name="Google Shape;98;p2"/>
          <p:cNvSpPr/>
          <p:nvPr/>
        </p:nvSpPr>
        <p:spPr>
          <a:xfrm>
            <a:off x="822960" y="2463803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99" name="Google Shape;99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031" y="2616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1554480" y="2463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Validaciones externas manuales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41248" y="3140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trámite obliga a consultas manuales en el OUC y el SII-Cart, sin un flujo sistematizado.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217920" y="2189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03" name="Google Shape;103;p2"/>
          <p:cNvSpPr/>
          <p:nvPr/>
        </p:nvSpPr>
        <p:spPr>
          <a:xfrm>
            <a:off x="6492240" y="2463803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04" name="Google Shape;104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5311" y="2616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/>
          <p:nvPr/>
        </p:nvSpPr>
        <p:spPr>
          <a:xfrm>
            <a:off x="7223760" y="2463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Sin trazabilidad sistémica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510528" y="3140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No queda registro estructurado de quién validó, consultó o decidió si las constancias son procedentes.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548640" y="4475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08" name="Google Shape;108;p2"/>
          <p:cNvSpPr/>
          <p:nvPr/>
        </p:nvSpPr>
        <p:spPr>
          <a:xfrm>
            <a:off x="822960" y="4749803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09" name="Google Shape;109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6031" y="4902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/>
          <p:nvPr/>
        </p:nvSpPr>
        <p:spPr>
          <a:xfrm>
            <a:off x="1554480" y="4749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Timbrado manual en Finanzas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841248" y="5426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La generación y el timbrado de facturas en plataformas de terceros genera retrasos administrativos severos.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6217920" y="4475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13" name="Google Shape;113;p2"/>
          <p:cNvSpPr/>
          <p:nvPr/>
        </p:nvSpPr>
        <p:spPr>
          <a:xfrm>
            <a:off x="6492240" y="4749803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14" name="Google Shape;114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45311" y="4902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/>
          <p:nvPr/>
        </p:nvSpPr>
        <p:spPr>
          <a:xfrm>
            <a:off x="7223760" y="4749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Evidencia documental dispersa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510528" y="5426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No existe un almacén central de folios y evidencias que respalde la emisión de constancias.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>
            <a:off x="548640" y="1242147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03 · SOLUCIÓN ESTRATÉGICA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48640" y="1592213"/>
            <a:ext cx="11064240" cy="426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000"/>
              <a:buFont typeface="Montserrat"/>
              <a:buNone/>
            </a:pPr>
            <a:r>
              <a:rPr lang="es-MX" sz="20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Un sistema transaccional que automatiza el trámite de extremo a extremo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548640" y="2197789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25" name="Google Shape;125;p3"/>
          <p:cNvSpPr/>
          <p:nvPr/>
        </p:nvSpPr>
        <p:spPr>
          <a:xfrm>
            <a:off x="1243584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26" name="Google Shape;126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6530" y="2580191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/>
          <p:nvPr/>
        </p:nvSpPr>
        <p:spPr>
          <a:xfrm>
            <a:off x="548640" y="3066469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Captura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2514600" y="2517829"/>
            <a:ext cx="32918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2816352" y="2197789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30" name="Google Shape;130;p3"/>
          <p:cNvSpPr/>
          <p:nvPr/>
        </p:nvSpPr>
        <p:spPr>
          <a:xfrm>
            <a:off x="3511296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31" name="Google Shape;131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74242" y="2580191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/>
          <p:cNvSpPr/>
          <p:nvPr/>
        </p:nvSpPr>
        <p:spPr>
          <a:xfrm>
            <a:off x="2816352" y="3066469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Validación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4782312" y="2517829"/>
            <a:ext cx="32918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5084064" y="2197789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35" name="Google Shape;135;p3"/>
          <p:cNvSpPr/>
          <p:nvPr/>
        </p:nvSpPr>
        <p:spPr>
          <a:xfrm>
            <a:off x="5779008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36" name="Google Shape;136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1954" y="2580191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/>
          <p:nvPr/>
        </p:nvSpPr>
        <p:spPr>
          <a:xfrm>
            <a:off x="5084064" y="3066469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Aprobación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7050024" y="2517829"/>
            <a:ext cx="32918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7351776" y="2197789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40" name="Google Shape;140;p3"/>
          <p:cNvSpPr/>
          <p:nvPr/>
        </p:nvSpPr>
        <p:spPr>
          <a:xfrm>
            <a:off x="8046720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41" name="Google Shape;141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09666" y="2580191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"/>
          <p:cNvSpPr/>
          <p:nvPr/>
        </p:nvSpPr>
        <p:spPr>
          <a:xfrm>
            <a:off x="7351776" y="3066469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Cobro y emisión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9317736" y="2517829"/>
            <a:ext cx="32918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9619488" y="2197789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B8822A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45" name="Google Shape;145;p3"/>
          <p:cNvSpPr/>
          <p:nvPr/>
        </p:nvSpPr>
        <p:spPr>
          <a:xfrm>
            <a:off x="10314432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46" name="Google Shape;146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77378" y="2580191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"/>
          <p:cNvSpPr/>
          <p:nvPr/>
        </p:nvSpPr>
        <p:spPr>
          <a:xfrm>
            <a:off x="9619488" y="3066469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Timbrado CFDI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548640" y="3809205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49" name="Google Shape;149;p3"/>
          <p:cNvSpPr/>
          <p:nvPr/>
        </p:nvSpPr>
        <p:spPr>
          <a:xfrm>
            <a:off x="822960" y="4083525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50" name="Google Shape;150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6031" y="4236596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"/>
          <p:cNvSpPr/>
          <p:nvPr/>
        </p:nvSpPr>
        <p:spPr>
          <a:xfrm>
            <a:off x="1554480" y="4083525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Validación y emisión ágiles</a:t>
            </a:r>
            <a:endParaRPr lang="es-MX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841248" y="4760181"/>
            <a:ext cx="291693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El sistema guía cada trámite con requisitos definidos, agilizando la emisión de constancias para ciudadanos registrados y no registrados. 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4344924" y="3809205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54" name="Google Shape;154;p3"/>
          <p:cNvSpPr/>
          <p:nvPr/>
        </p:nvSpPr>
        <p:spPr>
          <a:xfrm>
            <a:off x="4619244" y="4083525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55" name="Google Shape;155;p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72315" y="4236596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"/>
          <p:cNvSpPr/>
          <p:nvPr/>
        </p:nvSpPr>
        <p:spPr>
          <a:xfrm>
            <a:off x="5350764" y="4083525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Facturación, CFDI 4.0 automática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4637532" y="4760181"/>
            <a:ext cx="291693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Las facturas se generan y certifican automáticamente, eliminando procesos manuales y agilizando la atención al ciudadano. 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8110728" y="3809205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59" name="Google Shape;159;p3"/>
          <p:cNvSpPr/>
          <p:nvPr/>
        </p:nvSpPr>
        <p:spPr>
          <a:xfrm>
            <a:off x="8385048" y="4083525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60" name="Google Shape;160;p3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38119" y="4236596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"/>
          <p:cNvSpPr/>
          <p:nvPr/>
        </p:nvSpPr>
        <p:spPr>
          <a:xfrm>
            <a:off x="9116568" y="4083525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Flujo auditable de punta a punta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8403336" y="4760181"/>
            <a:ext cx="291693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acción y decisión queda registrada, garantizando transparencia, control y respaldo para las auditorías. 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/>
          <p:nvPr/>
        </p:nvSpPr>
        <p:spPr>
          <a:xfrm>
            <a:off x="548640" y="1233787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04 · VISIÓN DE ECOSISTEMA Y ESCALABILIDAD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548640" y="1508107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El primer módulo de una plataforma que crece sin reconstruirse</a:t>
            </a:r>
            <a:endParaRPr lang="es-MX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6400800" y="2235197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400"/>
              <a:buFont typeface="Montserrat"/>
              <a:buNone/>
            </a:pPr>
            <a:r>
              <a:rPr lang="es-MX" sz="140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Módulos del ecosistema</a:t>
            </a:r>
            <a:endParaRPr lang="es-MX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6400800" y="2692397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72" name="Google Shape;172;p4"/>
          <p:cNvSpPr/>
          <p:nvPr/>
        </p:nvSpPr>
        <p:spPr>
          <a:xfrm>
            <a:off x="6656832" y="2893565"/>
            <a:ext cx="512064" cy="512064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73" name="Google Shape;173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95089" y="3031822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"/>
          <p:cNvSpPr/>
          <p:nvPr/>
        </p:nvSpPr>
        <p:spPr>
          <a:xfrm>
            <a:off x="7315200" y="2747261"/>
            <a:ext cx="4114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s-MX" sz="1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Constancias y Facturación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DCE3"/>
              </a:buClr>
              <a:buSzPts val="1100"/>
              <a:buFont typeface="Montserrat"/>
              <a:buNone/>
            </a:pPr>
            <a:r>
              <a:rPr lang="es-MX" sz="1100" dirty="0">
                <a:solidFill>
                  <a:srgbClr val="F0DCE3"/>
                </a:solidFill>
                <a:latin typeface="Montserrat"/>
                <a:ea typeface="Montserrat"/>
                <a:cs typeface="Montserrat"/>
                <a:sym typeface="Montserrat"/>
              </a:rPr>
              <a:t>Este módulo — en desarrollo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6400800" y="3835397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 cap="flat" cmpd="sng">
            <a:solidFill>
              <a:srgbClr val="B88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76" name="Google Shape;176;p4"/>
          <p:cNvSpPr/>
          <p:nvPr/>
        </p:nvSpPr>
        <p:spPr>
          <a:xfrm>
            <a:off x="6656832" y="3954269"/>
            <a:ext cx="475488" cy="475488"/>
          </a:xfrm>
          <a:prstGeom prst="ellipse">
            <a:avLst/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77" name="Google Shape;177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5214" y="4082651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"/>
          <p:cNvSpPr/>
          <p:nvPr/>
        </p:nvSpPr>
        <p:spPr>
          <a:xfrm>
            <a:off x="7269480" y="3835397"/>
            <a:ext cx="4206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132B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5B132B"/>
                </a:solidFill>
                <a:latin typeface="Montserrat"/>
                <a:ea typeface="Montserrat"/>
                <a:cs typeface="Montserrat"/>
                <a:sym typeface="Montserrat"/>
              </a:rPr>
              <a:t>SOAPAP plataforma informática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6400800" y="4676645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 cap="flat" cmpd="sng">
            <a:solidFill>
              <a:srgbClr val="B88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80" name="Google Shape;180;p4"/>
          <p:cNvSpPr/>
          <p:nvPr/>
        </p:nvSpPr>
        <p:spPr>
          <a:xfrm>
            <a:off x="6656832" y="4795517"/>
            <a:ext cx="475488" cy="475488"/>
          </a:xfrm>
          <a:prstGeom prst="ellipse">
            <a:avLst/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81" name="Google Shape;181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5214" y="4923899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4"/>
          <p:cNvSpPr/>
          <p:nvPr/>
        </p:nvSpPr>
        <p:spPr>
          <a:xfrm>
            <a:off x="7269480" y="4676645"/>
            <a:ext cx="4206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132B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5B132B"/>
                </a:solidFill>
                <a:latin typeface="Montserrat"/>
                <a:ea typeface="Montserrat"/>
                <a:cs typeface="Montserrat"/>
                <a:sym typeface="Montserrat"/>
              </a:rPr>
              <a:t>SOAPAP Correspondencia (Gestión oficios entrantes)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6400800" y="5517893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 cap="flat" cmpd="sng">
            <a:solidFill>
              <a:srgbClr val="B88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84" name="Google Shape;184;p4"/>
          <p:cNvSpPr/>
          <p:nvPr/>
        </p:nvSpPr>
        <p:spPr>
          <a:xfrm>
            <a:off x="6656832" y="5636765"/>
            <a:ext cx="475488" cy="475488"/>
          </a:xfrm>
          <a:prstGeom prst="ellipse">
            <a:avLst/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85" name="Google Shape;185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5214" y="5765147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4"/>
          <p:cNvSpPr/>
          <p:nvPr/>
        </p:nvSpPr>
        <p:spPr>
          <a:xfrm>
            <a:off x="7269480" y="5517893"/>
            <a:ext cx="4206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132B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5B132B"/>
                </a:solidFill>
                <a:latin typeface="Montserrat"/>
                <a:ea typeface="Montserrat"/>
                <a:cs typeface="Montserrat"/>
                <a:sym typeface="Montserrat"/>
              </a:rPr>
              <a:t>Próximos módulos por área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6400800" y="6377429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150"/>
              <a:buFont typeface="Calibri"/>
              <a:buNone/>
            </a:pPr>
            <a:r>
              <a:rPr lang="es-MX" sz="1150" i="1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Reutilizan las fundaciones — no se reconstruyen</a:t>
            </a:r>
            <a:endParaRPr lang="es-MX"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576349" y="2235197"/>
            <a:ext cx="55778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89" name="Google Shape;189;p4"/>
          <p:cNvSpPr/>
          <p:nvPr/>
        </p:nvSpPr>
        <p:spPr>
          <a:xfrm>
            <a:off x="896389" y="2463797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600"/>
              <a:buFont typeface="Montserrat"/>
              <a:buNone/>
            </a:pPr>
            <a:r>
              <a:rPr lang="es-MX" sz="16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Fundaciones compartidas</a:t>
            </a:r>
            <a:endParaRPr lang="es-MX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896389" y="2856989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150"/>
              <a:buFont typeface="Calibri"/>
              <a:buNone/>
            </a:pPr>
            <a:r>
              <a:rPr lang="es-MX" sz="1150" i="1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Construidas una sola vez; cada módulo nuevo las reutiliza.</a:t>
            </a:r>
            <a:endParaRPr lang="es-MX"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868957" y="3332477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92" name="Google Shape;192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2401" y="3455921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"/>
          <p:cNvSpPr/>
          <p:nvPr/>
        </p:nvSpPr>
        <p:spPr>
          <a:xfrm>
            <a:off x="1454173" y="3305045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Una plataforma que crece por módulos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1454173" y="3579365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Calibri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nuevo módulo aprovecha la infraestructura existente, reduciendo tiempos de implementación. </a:t>
            </a:r>
            <a:endParaRPr lang="es-MX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868957" y="3954269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96" name="Google Shape;196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2401" y="4077713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"/>
          <p:cNvSpPr/>
          <p:nvPr/>
        </p:nvSpPr>
        <p:spPr>
          <a:xfrm>
            <a:off x="1454173" y="3926837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Acceso único a la plataforma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1454173" y="4201157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Los usuarios ingresan una sola vez para acceder de forma segura a todos los módulos autorizados.</a:t>
            </a:r>
          </a:p>
        </p:txBody>
      </p:sp>
      <p:sp>
        <p:nvSpPr>
          <p:cNvPr id="199" name="Google Shape;199;p4"/>
          <p:cNvSpPr/>
          <p:nvPr/>
        </p:nvSpPr>
        <p:spPr>
          <a:xfrm>
            <a:off x="868957" y="4576061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00" name="Google Shape;200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2401" y="4699505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"/>
          <p:cNvSpPr/>
          <p:nvPr/>
        </p:nvSpPr>
        <p:spPr>
          <a:xfrm>
            <a:off x="1454173" y="4548629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Sistema de diseño compartido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1454173" y="4822949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Calibri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Todos los módulos comparten la misma imagen y forma de operar, facilitando su uso y fortaleciendo la identidad institucional. </a:t>
            </a:r>
            <a:endParaRPr lang="es-MX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868957" y="5197853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04" name="Google Shape;204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2401" y="5321297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"/>
          <p:cNvSpPr/>
          <p:nvPr/>
        </p:nvSpPr>
        <p:spPr>
          <a:xfrm>
            <a:off x="1454173" y="5170421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Control de acceso y auditoría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1454173" y="5444741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Una administración centralizada de permisos y registro de actividades en toda la plataforma.</a:t>
            </a:r>
          </a:p>
        </p:txBody>
      </p:sp>
      <p:sp>
        <p:nvSpPr>
          <p:cNvPr id="207" name="Google Shape;207;p4"/>
          <p:cNvSpPr/>
          <p:nvPr/>
        </p:nvSpPr>
        <p:spPr>
          <a:xfrm>
            <a:off x="868957" y="5819645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08" name="Google Shape;208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2401" y="5943089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4"/>
          <p:cNvSpPr/>
          <p:nvPr/>
        </p:nvSpPr>
        <p:spPr>
          <a:xfrm>
            <a:off x="1454173" y="5792213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Firma electrónica institucional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1454173" y="6066533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Un servicio centralizado garantiza la autenticidad, integridad y validez de los documentos emitidos por todos los módulos.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2d431b908_8_14"/>
          <p:cNvSpPr/>
          <p:nvPr/>
        </p:nvSpPr>
        <p:spPr>
          <a:xfrm>
            <a:off x="548640" y="1233787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05 · ¿CÓMO FUNCIONA LA PLATAFORMA?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548640" y="150810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Así viaja un trámite, paso a paso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5"/>
          <p:cNvSpPr/>
          <p:nvPr/>
        </p:nvSpPr>
        <p:spPr>
          <a:xfrm>
            <a:off x="950000" y="2879324"/>
            <a:ext cx="10291998" cy="25400"/>
          </a:xfrm>
          <a:prstGeom prst="rect">
            <a:avLst/>
          </a:prstGeom>
          <a:solidFill>
            <a:srgbClr val="E6E1E3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401" name="Google Shape;401;p5"/>
          <p:cNvSpPr/>
          <p:nvPr/>
        </p:nvSpPr>
        <p:spPr>
          <a:xfrm>
            <a:off x="1657666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5"/>
          <p:cNvSpPr/>
          <p:nvPr/>
        </p:nvSpPr>
        <p:spPr>
          <a:xfrm>
            <a:off x="3372999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5"/>
          <p:cNvSpPr/>
          <p:nvPr/>
        </p:nvSpPr>
        <p:spPr>
          <a:xfrm>
            <a:off x="5088332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5"/>
          <p:cNvSpPr/>
          <p:nvPr/>
        </p:nvSpPr>
        <p:spPr>
          <a:xfrm>
            <a:off x="6803665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5"/>
          <p:cNvSpPr/>
          <p:nvPr/>
        </p:nvSpPr>
        <p:spPr>
          <a:xfrm>
            <a:off x="8518998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5"/>
          <p:cNvSpPr/>
          <p:nvPr/>
        </p:nvSpPr>
        <p:spPr>
          <a:xfrm>
            <a:off x="10234331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5"/>
          <p:cNvSpPr/>
          <p:nvPr/>
        </p:nvSpPr>
        <p:spPr>
          <a:xfrm>
            <a:off x="648247" y="2600768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08" name="Google Shape;408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1194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"/>
          <p:cNvSpPr/>
          <p:nvPr/>
        </p:nvSpPr>
        <p:spPr>
          <a:xfrm>
            <a:off x="125000" y="3253776"/>
            <a:ext cx="165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Ciudadano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5"/>
          <p:cNvSpPr/>
          <p:nvPr/>
        </p:nvSpPr>
        <p:spPr>
          <a:xfrm>
            <a:off x="150000" y="3713504"/>
            <a:ext cx="16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Solicita su trámite</a:t>
            </a:r>
            <a:endParaRPr lang="es-MX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5"/>
          <p:cNvSpPr/>
          <p:nvPr/>
        </p:nvSpPr>
        <p:spPr>
          <a:xfrm>
            <a:off x="2363581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12" name="Google Shape;412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26527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"/>
          <p:cNvSpPr/>
          <p:nvPr/>
        </p:nvSpPr>
        <p:spPr>
          <a:xfrm>
            <a:off x="1840333" y="3253776"/>
            <a:ext cx="165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Captura</a:t>
            </a:r>
            <a:endParaRPr lang="es-MX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5"/>
          <p:cNvSpPr/>
          <p:nvPr/>
        </p:nvSpPr>
        <p:spPr>
          <a:xfrm>
            <a:off x="1865333" y="3713504"/>
            <a:ext cx="1600000" cy="430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Llena datos y se anexan documentos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5"/>
          <p:cNvSpPr/>
          <p:nvPr/>
        </p:nvSpPr>
        <p:spPr>
          <a:xfrm>
            <a:off x="4078914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16" name="Google Shape;416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41860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"/>
          <p:cNvSpPr/>
          <p:nvPr/>
        </p:nvSpPr>
        <p:spPr>
          <a:xfrm>
            <a:off x="3555666" y="3253776"/>
            <a:ext cx="165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Validación</a:t>
            </a:r>
            <a:endParaRPr lang="es-MX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5"/>
          <p:cNvSpPr/>
          <p:nvPr/>
        </p:nvSpPr>
        <p:spPr>
          <a:xfrm>
            <a:off x="3580666" y="3713504"/>
            <a:ext cx="16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El operador revisa requisitos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5"/>
          <p:cNvSpPr/>
          <p:nvPr/>
        </p:nvSpPr>
        <p:spPr>
          <a:xfrm>
            <a:off x="5794247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20" name="Google Shape;420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57193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5"/>
          <p:cNvSpPr/>
          <p:nvPr/>
        </p:nvSpPr>
        <p:spPr>
          <a:xfrm>
            <a:off x="5270999" y="3253776"/>
            <a:ext cx="165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Aprobación</a:t>
            </a:r>
            <a:endParaRPr lang="es-MX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5"/>
          <p:cNvSpPr/>
          <p:nvPr/>
        </p:nvSpPr>
        <p:spPr>
          <a:xfrm>
            <a:off x="5295999" y="3713504"/>
            <a:ext cx="16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Se autoriza el trámite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5"/>
          <p:cNvSpPr/>
          <p:nvPr/>
        </p:nvSpPr>
        <p:spPr>
          <a:xfrm>
            <a:off x="7509580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24" name="Google Shape;424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72526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"/>
          <p:cNvSpPr/>
          <p:nvPr/>
        </p:nvSpPr>
        <p:spPr>
          <a:xfrm>
            <a:off x="6986332" y="3253776"/>
            <a:ext cx="165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Cobro y emisión</a:t>
            </a:r>
            <a:endParaRPr lang="es-MX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5"/>
          <p:cNvSpPr/>
          <p:nvPr/>
        </p:nvSpPr>
        <p:spPr>
          <a:xfrm>
            <a:off x="7011332" y="3713504"/>
            <a:ext cx="16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Se valida pago y se entrega constancia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5"/>
          <p:cNvSpPr/>
          <p:nvPr/>
        </p:nvSpPr>
        <p:spPr>
          <a:xfrm>
            <a:off x="9224913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28" name="Google Shape;428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87859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"/>
          <p:cNvSpPr/>
          <p:nvPr/>
        </p:nvSpPr>
        <p:spPr>
          <a:xfrm>
            <a:off x="8701665" y="3253776"/>
            <a:ext cx="165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Timbrado CFDI</a:t>
            </a:r>
            <a:endParaRPr lang="es-MX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5"/>
          <p:cNvSpPr/>
          <p:nvPr/>
        </p:nvSpPr>
        <p:spPr>
          <a:xfrm>
            <a:off x="8726665" y="3713504"/>
            <a:ext cx="16000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Si el usuario lo solicita y deja datos de facturación el sistema emite y timbra CFDI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5"/>
          <p:cNvSpPr/>
          <p:nvPr/>
        </p:nvSpPr>
        <p:spPr>
          <a:xfrm>
            <a:off x="10940246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32" name="Google Shape;432;p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103192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"/>
          <p:cNvSpPr/>
          <p:nvPr/>
        </p:nvSpPr>
        <p:spPr>
          <a:xfrm>
            <a:off x="10416998" y="3253776"/>
            <a:ext cx="165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Entrega de factura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Calibri"/>
                <a:cs typeface="Calibri"/>
                <a:sym typeface="Montserrat"/>
              </a:rPr>
              <a:t>Y validación 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5"/>
          <p:cNvSpPr/>
          <p:nvPr/>
        </p:nvSpPr>
        <p:spPr>
          <a:xfrm>
            <a:off x="10441998" y="3713504"/>
            <a:ext cx="1600000" cy="7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El usuario desde el portal institucional puede descargar la factura y validar la constancia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5"/>
          <p:cNvSpPr/>
          <p:nvPr/>
        </p:nvSpPr>
        <p:spPr>
          <a:xfrm>
            <a:off x="687445" y="4940797"/>
            <a:ext cx="1109472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3D0017"/>
                </a:solidFill>
                <a:latin typeface="Calibri"/>
                <a:ea typeface="Calibri"/>
                <a:cs typeface="Calibri"/>
                <a:sym typeface="Calibri"/>
              </a:rPr>
              <a:t>Cada trámite sigue siempre esta misma ruta: clara, ordenada y de principio a fin.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"/>
          <p:cNvSpPr/>
          <p:nvPr/>
        </p:nvSpPr>
        <p:spPr>
          <a:xfrm>
            <a:off x="548640" y="116768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06 · IMPACTO DIRECTO AL CIUDADANO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548640" y="1369564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Trámite más rápido, transparente y con autoservicio</a:t>
            </a:r>
            <a:endParaRPr lang="es-MX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548640" y="2041697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25" name="Google Shape;225;p5"/>
          <p:cNvSpPr/>
          <p:nvPr/>
        </p:nvSpPr>
        <p:spPr>
          <a:xfrm>
            <a:off x="822960" y="2316017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26" name="Google Shape;226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031" y="24690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5"/>
          <p:cNvSpPr/>
          <p:nvPr/>
        </p:nvSpPr>
        <p:spPr>
          <a:xfrm>
            <a:off x="1554480" y="2316017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Atención más ágil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841248" y="2992673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Validación y emisión en una sola visita a ventanilla, sin esperar procesos manuales de terceros.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6217920" y="2041697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30" name="Google Shape;230;p5"/>
          <p:cNvSpPr/>
          <p:nvPr/>
        </p:nvSpPr>
        <p:spPr>
          <a:xfrm>
            <a:off x="6492240" y="2316017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31" name="Google Shape;231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5311" y="24690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5"/>
          <p:cNvSpPr/>
          <p:nvPr/>
        </p:nvSpPr>
        <p:spPr>
          <a:xfrm>
            <a:off x="7223760" y="2316017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Autoservicio en línea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6510528" y="2992673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Portales públicos para verificar la constancia y descargar el CFDI con el folio, desde la página WEB Institucional.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548640" y="4327697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35" name="Google Shape;235;p5"/>
          <p:cNvSpPr/>
          <p:nvPr/>
        </p:nvSpPr>
        <p:spPr>
          <a:xfrm>
            <a:off x="822960" y="4602017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36" name="Google Shape;236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6031" y="47550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5"/>
          <p:cNvSpPr/>
          <p:nvPr/>
        </p:nvSpPr>
        <p:spPr>
          <a:xfrm>
            <a:off x="1554480" y="4602017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Verificación inmediata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841248" y="5278673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constancia lleva folio y código QR que confirman su autenticidad y vigencia al instante.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6217920" y="4327697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40" name="Google Shape;240;p5"/>
          <p:cNvSpPr/>
          <p:nvPr/>
        </p:nvSpPr>
        <p:spPr>
          <a:xfrm>
            <a:off x="6492240" y="4602017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41" name="Google Shape;241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45311" y="47550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5"/>
          <p:cNvSpPr/>
          <p:nvPr/>
        </p:nvSpPr>
        <p:spPr>
          <a:xfrm>
            <a:off x="7223760" y="4602017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Transparencia y certeza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6510528" y="5278673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Documentos oficiales verificables y facturación electrónica conforme a la normativa del SAT.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"/>
          <p:cNvSpPr/>
          <p:nvPr/>
        </p:nvSpPr>
        <p:spPr>
          <a:xfrm>
            <a:off x="548640" y="123378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07 · SEGURIDAD Y AUDITORÍA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548640" y="150810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Cinco garantías frente a cualquier auditoría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6"/>
          <p:cNvSpPr/>
          <p:nvPr/>
        </p:nvSpPr>
        <p:spPr>
          <a:xfrm>
            <a:off x="548640" y="2337262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52" name="Google Shape;352;p6"/>
          <p:cNvSpPr/>
          <p:nvPr/>
        </p:nvSpPr>
        <p:spPr>
          <a:xfrm>
            <a:off x="822960" y="2611582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53" name="Google Shape;353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031" y="276465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6"/>
          <p:cNvSpPr/>
          <p:nvPr/>
        </p:nvSpPr>
        <p:spPr>
          <a:xfrm>
            <a:off x="1554480" y="2611582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Nada se pierde, nada se evade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6"/>
          <p:cNvSpPr/>
          <p:nvPr/>
        </p:nvSpPr>
        <p:spPr>
          <a:xfrm>
            <a:off x="841248" y="3288238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acción queda registrada para siempre y ninguna operación puede tocar la base de datos sin pasar por el sistema.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6"/>
          <p:cNvSpPr/>
          <p:nvPr/>
        </p:nvSpPr>
        <p:spPr>
          <a:xfrm>
            <a:off x="4416552" y="2337262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57" name="Google Shape;357;p6"/>
          <p:cNvSpPr/>
          <p:nvPr/>
        </p:nvSpPr>
        <p:spPr>
          <a:xfrm>
            <a:off x="4690872" y="2611582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58" name="Google Shape;358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3943" y="276465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6"/>
          <p:cNvSpPr/>
          <p:nvPr/>
        </p:nvSpPr>
        <p:spPr>
          <a:xfrm>
            <a:off x="5422392" y="2611582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Documentos siempre disponibles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6"/>
          <p:cNvSpPr/>
          <p:nvPr/>
        </p:nvSpPr>
        <p:spPr>
          <a:xfrm>
            <a:off x="4709160" y="3288238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Facturas y constancias se conservan listas para cualquier revisión, durante el tiempo que exige el SAT.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6"/>
          <p:cNvSpPr/>
          <p:nvPr/>
        </p:nvSpPr>
        <p:spPr>
          <a:xfrm>
            <a:off x="8284464" y="2337262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62" name="Google Shape;362;p6"/>
          <p:cNvSpPr/>
          <p:nvPr/>
        </p:nvSpPr>
        <p:spPr>
          <a:xfrm>
            <a:off x="8558784" y="2611582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63" name="Google Shape;363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11855" y="276465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6"/>
          <p:cNvSpPr/>
          <p:nvPr/>
        </p:nvSpPr>
        <p:spPr>
          <a:xfrm>
            <a:off x="9290304" y="2611582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Autenticidad verificable al instante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6"/>
          <p:cNvSpPr/>
          <p:nvPr/>
        </p:nvSpPr>
        <p:spPr>
          <a:xfrm>
            <a:off x="8577072" y="3288238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Cualquier persona confirma en segundos que un documento es legítimo, sin exponer nuestra red interna.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6"/>
          <p:cNvSpPr/>
          <p:nvPr/>
        </p:nvSpPr>
        <p:spPr>
          <a:xfrm>
            <a:off x="2482596" y="4394662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67" name="Google Shape;367;p6"/>
          <p:cNvSpPr/>
          <p:nvPr/>
        </p:nvSpPr>
        <p:spPr>
          <a:xfrm>
            <a:off x="2756916" y="4668982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68" name="Google Shape;368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09987" y="482205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6"/>
          <p:cNvSpPr/>
          <p:nvPr/>
        </p:nvSpPr>
        <p:spPr>
          <a:xfrm>
            <a:off x="3488436" y="4668982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Acceso bajo control total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6"/>
          <p:cNvSpPr/>
          <p:nvPr/>
        </p:nvSpPr>
        <p:spPr>
          <a:xfrm>
            <a:off x="2775204" y="5345638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usuario entra una sola vez y solo hace lo que su rol permite; sabemos siempre quién hizo qué.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6"/>
          <p:cNvSpPr/>
          <p:nvPr/>
        </p:nvSpPr>
        <p:spPr>
          <a:xfrm>
            <a:off x="6350508" y="4394662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72" name="Google Shape;372;p6"/>
          <p:cNvSpPr/>
          <p:nvPr/>
        </p:nvSpPr>
        <p:spPr>
          <a:xfrm>
            <a:off x="6624828" y="4668982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73" name="Google Shape;373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7899" y="482205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6"/>
          <p:cNvSpPr/>
          <p:nvPr/>
        </p:nvSpPr>
        <p:spPr>
          <a:xfrm>
            <a:off x="7356348" y="4668982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Firma con validez legal plena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6"/>
          <p:cNvSpPr/>
          <p:nvPr/>
        </p:nvSpPr>
        <p:spPr>
          <a:xfrm>
            <a:off x="6643116" y="5345638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documento queda firmado electrónicamente con la misma validez que una firma autógrafa, e imposible de falsificar.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"/>
          <p:cNvSpPr/>
          <p:nvPr/>
        </p:nvSpPr>
        <p:spPr>
          <a:xfrm>
            <a:off x="548640" y="1215327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08 · INDICADORES DE DESEMPEÑO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548640" y="1489647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Lo que mediremos en tiempo real para Dirección</a:t>
            </a:r>
            <a:endParaRPr lang="es-MX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548640" y="2411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89" name="Google Shape;289;p7"/>
          <p:cNvSpPr/>
          <p:nvPr/>
        </p:nvSpPr>
        <p:spPr>
          <a:xfrm>
            <a:off x="822960" y="2685480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90" name="Google Shape;290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031" y="28385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7"/>
          <p:cNvSpPr/>
          <p:nvPr/>
        </p:nvSpPr>
        <p:spPr>
          <a:xfrm>
            <a:off x="1554480" y="26854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Volumen de constancias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841248" y="33621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Emitidas por periodo (registrados vs. no registrados).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4416552" y="2411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94" name="Google Shape;294;p7"/>
          <p:cNvSpPr/>
          <p:nvPr/>
        </p:nvSpPr>
        <p:spPr>
          <a:xfrm>
            <a:off x="4690872" y="2685480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95" name="Google Shape;295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3943" y="28385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7"/>
          <p:cNvSpPr/>
          <p:nvPr/>
        </p:nvSpPr>
        <p:spPr>
          <a:xfrm>
            <a:off x="5422392" y="26854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Tiempo de atención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4709160" y="33621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Desde la captura hasta la resolución en ventanilla.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8284464" y="2411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99" name="Google Shape;299;p7"/>
          <p:cNvSpPr/>
          <p:nvPr/>
        </p:nvSpPr>
        <p:spPr>
          <a:xfrm>
            <a:off x="8558784" y="2593117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00" name="Google Shape;300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11855" y="27461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7"/>
          <p:cNvSpPr/>
          <p:nvPr/>
        </p:nvSpPr>
        <p:spPr>
          <a:xfrm>
            <a:off x="9290304" y="2593117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Éxito de timbrado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8577072" y="3269773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Timbrado automatizado vs. errores de facturación.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548640" y="44685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04" name="Google Shape;304;p7"/>
          <p:cNvSpPr/>
          <p:nvPr/>
        </p:nvSpPr>
        <p:spPr>
          <a:xfrm>
            <a:off x="822960" y="4742880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05" name="Google Shape;305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031" y="48959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7"/>
          <p:cNvSpPr/>
          <p:nvPr/>
        </p:nvSpPr>
        <p:spPr>
          <a:xfrm>
            <a:off x="1554480" y="47428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Vencidos sin pago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841248" y="54195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Trámites aprobados que expiran en el plazo de pago.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4416552" y="44685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09" name="Google Shape;309;p7"/>
          <p:cNvSpPr/>
          <p:nvPr/>
        </p:nvSpPr>
        <p:spPr>
          <a:xfrm>
            <a:off x="4690872" y="4742880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10" name="Google Shape;310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43943" y="48959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7"/>
          <p:cNvSpPr/>
          <p:nvPr/>
        </p:nvSpPr>
        <p:spPr>
          <a:xfrm>
            <a:off x="5422392" y="47428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Consultas a la concesionaria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4709160" y="54195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Trámites que requirieron apoyo externo.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8284464" y="44685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14" name="Google Shape;314;p7"/>
          <p:cNvSpPr/>
          <p:nvPr/>
        </p:nvSpPr>
        <p:spPr>
          <a:xfrm>
            <a:off x="8558784" y="4650517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15" name="Google Shape;315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11855" y="48035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7"/>
          <p:cNvSpPr/>
          <p:nvPr/>
        </p:nvSpPr>
        <p:spPr>
          <a:xfrm>
            <a:off x="9290304" y="4650517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Reducción de costo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8577072" y="5327173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Porcentaje de constancias con descuento aplicado.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"/>
          <p:cNvSpPr/>
          <p:nvPr/>
        </p:nvSpPr>
        <p:spPr>
          <a:xfrm>
            <a:off x="457200" y="3400776"/>
            <a:ext cx="22585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10363360" y="1193788"/>
            <a:ext cx="12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Paso 1 de 5</a:t>
            </a:r>
            <a:endParaRPr lang="es-MX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457200" y="3646721"/>
            <a:ext cx="254736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Captura y Validación</a:t>
            </a:r>
            <a:endParaRPr lang="es-MX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457200" y="4046720"/>
            <a:ext cx="2258568" cy="24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boceto pendiente de validación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Google Shape;38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46000" y="3350000"/>
            <a:ext cx="700000" cy="7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EBDA86A-1F59-437C-8770-F8EA7BECF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248" y="1106025"/>
            <a:ext cx="8373112" cy="559131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471332" y="3154680"/>
            <a:ext cx="23042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10363360" y="1193788"/>
            <a:ext cx="12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Paso 3 de 5</a:t>
            </a:r>
            <a:endParaRPr lang="es-MX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471332" y="3474680"/>
            <a:ext cx="2029968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Aprobación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471332" y="3920360"/>
            <a:ext cx="2304288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boceto pendiente de validación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C153348-1A7A-4888-8B71-F9F7BE618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1108325"/>
            <a:ext cx="8666572" cy="545692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717644" y="2944640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10363360" y="1193788"/>
            <a:ext cx="12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Paso 4 de 5</a:t>
            </a:r>
            <a:endParaRPr lang="es-MX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717644" y="3172642"/>
            <a:ext cx="2221992" cy="51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Cobro y emisión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717644" y="3685358"/>
            <a:ext cx="2432304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boceto pendiente de validación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79AE043-1E86-49FE-A400-C1D27DFB7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829" y="1233788"/>
            <a:ext cx="4882531" cy="5193792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667512" y="3154680"/>
            <a:ext cx="22768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667512" y="3429000"/>
            <a:ext cx="2276856" cy="430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Timbrado CFDI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667512" y="3859420"/>
            <a:ext cx="2276856" cy="21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boceto pendiente de validación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DE13CC6-42BE-4B29-9E39-B64F93DA1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3" y="1145969"/>
            <a:ext cx="6517476" cy="5103004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AF39CD7-5907-404D-B13A-F2E3F6087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277" y="1145969"/>
            <a:ext cx="2666082" cy="5103004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667512" y="3154680"/>
            <a:ext cx="22768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667511" y="3429000"/>
            <a:ext cx="2580513" cy="430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Descarga de CFDI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667512" y="3859420"/>
            <a:ext cx="2276856" cy="21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boceto pendiente de validación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E3313B5-C07A-46C2-9D64-A4D153666D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96" r="13239"/>
          <a:stretch/>
        </p:blipFill>
        <p:spPr>
          <a:xfrm>
            <a:off x="4401312" y="1173770"/>
            <a:ext cx="6400800" cy="537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52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667512" y="3154680"/>
            <a:ext cx="22768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667511" y="3429000"/>
            <a:ext cx="3513964" cy="430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Validador de constancias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667512" y="3859420"/>
            <a:ext cx="2276856" cy="21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boceto pendiente de validación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FF560A7-9EBE-4CB0-900F-4849FCD7F3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07" r="11886"/>
          <a:stretch/>
        </p:blipFill>
        <p:spPr>
          <a:xfrm>
            <a:off x="5300664" y="1112993"/>
            <a:ext cx="5419725" cy="549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87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"/>
          <p:cNvSpPr/>
          <p:nvPr/>
        </p:nvSpPr>
        <p:spPr>
          <a:xfrm>
            <a:off x="548640" y="1122941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n-US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10 · CRONOGRAMA DE ACTIVIDADES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548640" y="1397261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n-US" sz="24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Ruta de implementación propuesta (estimada, sujeta a validación)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" name="Google Shape;339;p10"/>
          <p:cNvCxnSpPr/>
          <p:nvPr/>
        </p:nvCxnSpPr>
        <p:spPr>
          <a:xfrm>
            <a:off x="3794760" y="2243781"/>
            <a:ext cx="0" cy="35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0" name="Google Shape;340;p10"/>
          <p:cNvCxnSpPr/>
          <p:nvPr/>
        </p:nvCxnSpPr>
        <p:spPr>
          <a:xfrm>
            <a:off x="4783455" y="2243781"/>
            <a:ext cx="0" cy="35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1" name="Google Shape;341;p10"/>
          <p:cNvCxnSpPr/>
          <p:nvPr/>
        </p:nvCxnSpPr>
        <p:spPr>
          <a:xfrm>
            <a:off x="5772150" y="2243781"/>
            <a:ext cx="0" cy="35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2" name="Google Shape;342;p10"/>
          <p:cNvCxnSpPr/>
          <p:nvPr/>
        </p:nvCxnSpPr>
        <p:spPr>
          <a:xfrm>
            <a:off x="6760845" y="2243781"/>
            <a:ext cx="0" cy="35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3" name="Google Shape;343;p10"/>
          <p:cNvCxnSpPr/>
          <p:nvPr/>
        </p:nvCxnSpPr>
        <p:spPr>
          <a:xfrm>
            <a:off x="7749540" y="2243781"/>
            <a:ext cx="0" cy="35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4" name="Google Shape;344;p10"/>
          <p:cNvCxnSpPr/>
          <p:nvPr/>
        </p:nvCxnSpPr>
        <p:spPr>
          <a:xfrm>
            <a:off x="8738235" y="2243781"/>
            <a:ext cx="0" cy="35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5" name="Google Shape;345;p10"/>
          <p:cNvCxnSpPr/>
          <p:nvPr/>
        </p:nvCxnSpPr>
        <p:spPr>
          <a:xfrm>
            <a:off x="9726930" y="2243781"/>
            <a:ext cx="0" cy="35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6" name="Google Shape;346;p10"/>
          <p:cNvCxnSpPr/>
          <p:nvPr/>
        </p:nvCxnSpPr>
        <p:spPr>
          <a:xfrm>
            <a:off x="10715625" y="2243781"/>
            <a:ext cx="0" cy="35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7" name="Google Shape;347;p10"/>
          <p:cNvCxnSpPr/>
          <p:nvPr/>
        </p:nvCxnSpPr>
        <p:spPr>
          <a:xfrm>
            <a:off x="11704320" y="2243781"/>
            <a:ext cx="0" cy="35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8" name="Google Shape;348;p10"/>
          <p:cNvSpPr/>
          <p:nvPr/>
        </p:nvSpPr>
        <p:spPr>
          <a:xfrm>
            <a:off x="3794760" y="19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Semana 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4783455" y="19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Semana 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5772150" y="19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Semana 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6760845" y="19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Semana 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7749540" y="19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Semana 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8738235" y="19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Semana 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9726930" y="19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Semana 7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10715625" y="19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Semana 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548640" y="2316933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Validación de puntos de decisión y arranque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3794760" y="2390085"/>
            <a:ext cx="803117" cy="347472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548640" y="2838141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Infraestructura base (Keycloak, PostgreSQL, proxy)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4289107" y="2902149"/>
            <a:ext cx="1483041" cy="347472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548640" y="3359349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Módulo de constancias (captura, requisitos, estados)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5772150" y="3432501"/>
            <a:ext cx="988694" cy="347472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548640" y="3880557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Cobro y emisión (folio, QR, certificado interno)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6266498" y="3953709"/>
            <a:ext cx="1977383" cy="347472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0"/>
          <p:cNvSpPr/>
          <p:nvPr/>
        </p:nvSpPr>
        <p:spPr>
          <a:xfrm>
            <a:off x="548640" y="4401765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Facturación CFDI 4.0 (PAC, timbrado asíncrono)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8243881" y="4456629"/>
            <a:ext cx="1977390" cy="347472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548640" y="4922973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Portales públicos y módulos internos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9307901" y="4977837"/>
            <a:ext cx="1407723" cy="347472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548640" y="5444181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Pruebas, capacitación y despliegue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10715625" y="5457897"/>
            <a:ext cx="988695" cy="347472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1"/>
          <p:cNvSpPr/>
          <p:nvPr/>
        </p:nvSpPr>
        <p:spPr>
          <a:xfrm>
            <a:off x="548640" y="115065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11 · PUNTOS DE DECISIÓN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548640" y="1424974"/>
            <a:ext cx="11064240" cy="366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Lo que se requiere validar para iniciar</a:t>
            </a:r>
            <a:endParaRPr lang="es-MX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548640" y="2042303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78" name="Google Shape;378;p11"/>
          <p:cNvSpPr/>
          <p:nvPr/>
        </p:nvSpPr>
        <p:spPr>
          <a:xfrm>
            <a:off x="777240" y="2170319"/>
            <a:ext cx="420624" cy="420624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79" name="Google Shape;379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0808" y="2283887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1"/>
          <p:cNvSpPr/>
          <p:nvPr/>
        </p:nvSpPr>
        <p:spPr>
          <a:xfrm>
            <a:off x="1371600" y="2042303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Esquema de cobro: monto, fundamento y reducciones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8686800" y="2216039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82" name="Google Shape;382;p11"/>
          <p:cNvSpPr/>
          <p:nvPr/>
        </p:nvSpPr>
        <p:spPr>
          <a:xfrm>
            <a:off x="8686800" y="2216039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Administración y Finanzas</a:t>
            </a:r>
            <a:endParaRPr lang="es-MX" sz="110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548640" y="2846975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84" name="Google Shape;384;p11"/>
          <p:cNvSpPr/>
          <p:nvPr/>
        </p:nvSpPr>
        <p:spPr>
          <a:xfrm>
            <a:off x="777240" y="2974991"/>
            <a:ext cx="420624" cy="420624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85" name="Google Shape;385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0808" y="3088559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1"/>
          <p:cNvSpPr/>
          <p:nvPr/>
        </p:nvSpPr>
        <p:spPr>
          <a:xfrm>
            <a:off x="1371600" y="2846975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Alcance legal del certificado institucional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8686800" y="3020711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88" name="Google Shape;388;p11"/>
          <p:cNvSpPr/>
          <p:nvPr/>
        </p:nvSpPr>
        <p:spPr>
          <a:xfrm>
            <a:off x="8686800" y="3020711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Jurídico</a:t>
            </a:r>
            <a:endParaRPr lang="es-MX" sz="110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548640" y="3651647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90" name="Google Shape;390;p11"/>
          <p:cNvSpPr/>
          <p:nvPr/>
        </p:nvSpPr>
        <p:spPr>
          <a:xfrm>
            <a:off x="777240" y="3779663"/>
            <a:ext cx="420624" cy="420624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91" name="Google Shape;391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0808" y="3893231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1"/>
          <p:cNvSpPr/>
          <p:nvPr/>
        </p:nvSpPr>
        <p:spPr>
          <a:xfrm>
            <a:off x="1371600" y="3651647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Endpoint de validación de no adeudo (Fase 2)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8686800" y="3825383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94" name="Google Shape;394;p11"/>
          <p:cNvSpPr/>
          <p:nvPr/>
        </p:nvSpPr>
        <p:spPr>
          <a:xfrm>
            <a:off x="8686800" y="3825383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Agua de Puebla</a:t>
            </a:r>
            <a:endParaRPr lang="es-MX" sz="110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548640" y="4456319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96" name="Google Shape;396;p11"/>
          <p:cNvSpPr/>
          <p:nvPr/>
        </p:nvSpPr>
        <p:spPr>
          <a:xfrm>
            <a:off x="777240" y="4584335"/>
            <a:ext cx="420624" cy="420624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97" name="Google Shape;397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0808" y="4697903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1"/>
          <p:cNvSpPr/>
          <p:nvPr/>
        </p:nvSpPr>
        <p:spPr>
          <a:xfrm>
            <a:off x="1371600" y="4456319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Modelo de sellado con el PAC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8686800" y="4630055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400" name="Google Shape;400;p11"/>
          <p:cNvSpPr/>
          <p:nvPr/>
        </p:nvSpPr>
        <p:spPr>
          <a:xfrm>
            <a:off x="8686800" y="4630055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Factura Inteligente</a:t>
            </a:r>
            <a:endParaRPr lang="es-MX" sz="110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548640" y="5260991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402" name="Google Shape;402;p11"/>
          <p:cNvSpPr/>
          <p:nvPr/>
        </p:nvSpPr>
        <p:spPr>
          <a:xfrm>
            <a:off x="777240" y="5389007"/>
            <a:ext cx="420624" cy="420624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403" name="Google Shape;403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0808" y="5502575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1"/>
          <p:cNvSpPr/>
          <p:nvPr/>
        </p:nvSpPr>
        <p:spPr>
          <a:xfrm>
            <a:off x="1371600" y="5260991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Aprobación del catálogo de requisitos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8686800" y="5434727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406" name="Google Shape;406;p11"/>
          <p:cNvSpPr/>
          <p:nvPr/>
        </p:nvSpPr>
        <p:spPr>
          <a:xfrm>
            <a:off x="8686800" y="5434727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 Supervisión Comercial y Atención Ciudadana</a:t>
            </a:r>
            <a:endParaRPr lang="es-MX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548640" y="6065663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408" name="Google Shape;408;p11"/>
          <p:cNvSpPr/>
          <p:nvPr/>
        </p:nvSpPr>
        <p:spPr>
          <a:xfrm>
            <a:off x="777240" y="6193679"/>
            <a:ext cx="420624" cy="420624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409" name="Google Shape;409;p1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0808" y="6307247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1"/>
          <p:cNvSpPr/>
          <p:nvPr/>
        </p:nvSpPr>
        <p:spPr>
          <a:xfrm>
            <a:off x="1371600" y="6065663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Autorización para iniciar el desarrollo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8686800" y="6239399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412" name="Google Shape;412;p11"/>
          <p:cNvSpPr/>
          <p:nvPr/>
        </p:nvSpPr>
        <p:spPr>
          <a:xfrm>
            <a:off x="8686800" y="6239399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Administración y Finanzas</a:t>
            </a:r>
            <a:endParaRPr lang="es-MX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APA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1169</Words>
  <Application>Microsoft Office PowerPoint</Application>
  <PresentationFormat>Panorámica</PresentationFormat>
  <Paragraphs>184</Paragraphs>
  <Slides>17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Calibri</vt:lpstr>
      <vt:lpstr>Montserrat</vt:lpstr>
      <vt:lpstr>Arial</vt:lpstr>
      <vt:lpstr>SOAPAP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SOAPAP — Departamento de Informática</dc:creator>
  <cp:lastModifiedBy>Plataforma_03</cp:lastModifiedBy>
  <cp:revision>12</cp:revision>
  <dcterms:created xsi:type="dcterms:W3CDTF">2026-06-29T07:33:55Z</dcterms:created>
  <dcterms:modified xsi:type="dcterms:W3CDTF">2026-06-30T20:05:41Z</dcterms:modified>
</cp:coreProperties>
</file>