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12192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MEG68pCdPr1NCh9eRW8UTWnV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822A"/>
    <a:srgbClr val="3D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43291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91258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17" name="Google Shape;17;p13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18" name="Google Shape;18;p13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13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13" descr="Texto  El contenido generado por IA puede ser incorrecto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67186" y="55528"/>
              <a:ext cx="1657093" cy="974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13" descr="Logotipo, nombre de la empresa  El contenido generado por IA puede ser incorrecto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665" y="63482"/>
              <a:ext cx="1800098" cy="10588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" name="Google Shape;22;p13"/>
            <p:cNvCxnSpPr/>
            <p:nvPr/>
          </p:nvCxnSpPr>
          <p:spPr>
            <a:xfrm>
              <a:off x="2838493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5752972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8810456" y="334104"/>
              <a:ext cx="0" cy="57797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838200" y="129683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1"/>
          </p:nvPr>
        </p:nvSpPr>
        <p:spPr>
          <a:xfrm>
            <a:off x="838200" y="2743199"/>
            <a:ext cx="10515600" cy="3433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31" name="Google Shape;31;p14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32" name="Google Shape;32;p14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14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40" name="Google Shape;40;p15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41" name="Google Shape;41;p15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15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14487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838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172200" y="2915727"/>
            <a:ext cx="5181600" cy="326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1" name="Google Shape;51;p16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6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1745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58" name="Google Shape;58;p17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59" name="Google Shape;59;p17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7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6612" y="1293962"/>
            <a:ext cx="3932237" cy="154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5183188" y="1293963"/>
            <a:ext cx="6172200" cy="4567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2"/>
          </p:nvPr>
        </p:nvSpPr>
        <p:spPr>
          <a:xfrm>
            <a:off x="839788" y="2856601"/>
            <a:ext cx="3932237" cy="301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68" name="Google Shape;68;p18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69" name="Google Shape;69;p18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8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36612" y="1302588"/>
            <a:ext cx="3932237" cy="144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>
            <a:spLocks noGrp="1"/>
          </p:cNvSpPr>
          <p:nvPr>
            <p:ph type="pic" idx="2"/>
          </p:nvPr>
        </p:nvSpPr>
        <p:spPr>
          <a:xfrm>
            <a:off x="5183188" y="2182483"/>
            <a:ext cx="6172200" cy="3678567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839788" y="2743200"/>
            <a:ext cx="3932237" cy="312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grpSp>
        <p:nvGrpSpPr>
          <p:cNvPr id="78" name="Google Shape;78;p19"/>
          <p:cNvGrpSpPr/>
          <p:nvPr/>
        </p:nvGrpSpPr>
        <p:grpSpPr>
          <a:xfrm>
            <a:off x="375195" y="67544"/>
            <a:ext cx="11441611" cy="1143002"/>
            <a:chOff x="266696" y="50292"/>
            <a:chExt cx="11441611" cy="1143002"/>
          </a:xfrm>
        </p:grpSpPr>
        <p:pic>
          <p:nvPicPr>
            <p:cNvPr id="79" name="Google Shape;79;p19" descr="Logotipo  El contenido generado por IA puede ser incorrecto.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6696" y="50292"/>
              <a:ext cx="1943104" cy="114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9" descr="Forma  El contenido generado por IA puede ser incorrecto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439147" y="273771"/>
              <a:ext cx="2269160" cy="6383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68382" y="177302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/>
          <p:nvPr/>
        </p:nvSpPr>
        <p:spPr>
          <a:xfrm>
            <a:off x="658375" y="1657350"/>
            <a:ext cx="11105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Modulo 1: 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 Integra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Constancias</a:t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 No Adeudo, 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s-MX" sz="3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s-MX" sz="38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egistro y Facturación </a:t>
            </a:r>
            <a:endParaRPr lang="es-MX" sz="3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58368" y="5943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i="0" u="none" strike="noStrike" cap="none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Departamento de Informática   ·   Presentación de avance   </a:t>
            </a:r>
            <a:r>
              <a:rPr lang="es-MX" sz="1200" b="1" i="0" u="none" strike="noStrike" cap="none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·   31 </a:t>
            </a:r>
            <a:r>
              <a:rPr lang="es-MX" sz="1200" b="1" i="0" u="none" strike="noStrike" cap="none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de julio de 2026</a:t>
            </a:r>
            <a:endParaRPr lang="es-MX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548640" y="12337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01 · ESTADO DEL PROYECTO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150810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Lo que se ha completado y lo que sigue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548640" y="2337262"/>
            <a:ext cx="3611880" cy="1828800"/>
          </a:xfrm>
          <a:prstGeom prst="roundRect">
            <a:avLst>
              <a:gd name="adj" fmla="val 400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822960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3" name="Google Shape;353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6031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6"/>
          <p:cNvSpPr/>
          <p:nvPr/>
        </p:nvSpPr>
        <p:spPr>
          <a:xfrm>
            <a:off x="1554480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Proceso de trámite: completado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41248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Captura, validación, aprobación, cobro y entrega operan de extremo a extremo en el sistema.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4416552" y="2337262"/>
            <a:ext cx="3611880" cy="1828800"/>
          </a:xfrm>
          <a:prstGeom prst="roundRect">
            <a:avLst>
              <a:gd name="adj" fmla="val 4000"/>
            </a:avLst>
          </a:prstGeom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7" name="Google Shape;357;p6"/>
          <p:cNvSpPr/>
          <p:nvPr/>
        </p:nvSpPr>
        <p:spPr>
          <a:xfrm>
            <a:off x="4690872" y="2611582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58" name="Google Shape;35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3943" y="276465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6"/>
          <p:cNvSpPr/>
          <p:nvPr/>
        </p:nvSpPr>
        <p:spPr>
          <a:xfrm>
            <a:off x="5422392" y="2611582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Timbrado de facturas: pendiente</a:t>
            </a:r>
            <a:endParaRPr lang="es-MX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4709160" y="3288238"/>
            <a:ext cx="30266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La emisión y certificación del CFDI 4.0 con el PAC aún no está integrada al flujo.</a:t>
            </a:r>
            <a:endParaRPr lang="es-MX"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8284464" y="2337262"/>
            <a:ext cx="3611880" cy="1828800"/>
          </a:xfrm>
          <a:prstGeom prst="roundRect">
            <a:avLst>
              <a:gd name="adj" fmla="val 4000"/>
            </a:avLst>
          </a:prstGeom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62" name="Google Shape;362;p6"/>
          <p:cNvSpPr/>
          <p:nvPr/>
        </p:nvSpPr>
        <p:spPr>
          <a:xfrm>
            <a:off x="8558784" y="2556718"/>
            <a:ext cx="566928" cy="566928"/>
          </a:xfrm>
          <a:prstGeom prst="ellipse">
            <a:avLst/>
          </a:prstGeom>
          <a:solidFill>
            <a:srgbClr val="3D0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pic>
        <p:nvPicPr>
          <p:cNvPr id="363" name="Google Shape;363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2711" y="270978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6"/>
          <p:cNvSpPr/>
          <p:nvPr/>
        </p:nvSpPr>
        <p:spPr>
          <a:xfrm>
            <a:off x="9290304" y="2556718"/>
            <a:ext cx="244144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publicas del servicio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6"/>
          <p:cNvSpPr/>
          <p:nvPr/>
        </p:nvSpPr>
        <p:spPr>
          <a:xfrm>
            <a:off x="8577072" y="3233374"/>
            <a:ext cx="3026664" cy="789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usuario va a disponer desde la pagina web institucional de un validador de constancias, además de, solicitar sus facturas desde la pagina web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2d431b908_8_14"/>
          <p:cNvSpPr/>
          <p:nvPr/>
        </p:nvSpPr>
        <p:spPr>
          <a:xfrm>
            <a:off x="548640" y="1233787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02 · FLUJO DEL TRÁMITE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48640" y="1508108"/>
            <a:ext cx="6255025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Así opera el trámite hoy, paso a paso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"/>
          <p:cNvSpPr/>
          <p:nvPr/>
        </p:nvSpPr>
        <p:spPr>
          <a:xfrm>
            <a:off x="950000" y="2879324"/>
            <a:ext cx="10291998" cy="25400"/>
          </a:xfrm>
          <a:prstGeom prst="rect">
            <a:avLst/>
          </a:prstGeom>
          <a:solidFill>
            <a:srgbClr val="E6E1E3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401" name="Google Shape;401;p5"/>
          <p:cNvSpPr/>
          <p:nvPr/>
        </p:nvSpPr>
        <p:spPr>
          <a:xfrm>
            <a:off x="1657666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5"/>
          <p:cNvSpPr/>
          <p:nvPr/>
        </p:nvSpPr>
        <p:spPr>
          <a:xfrm>
            <a:off x="3372999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5088332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"/>
          <p:cNvSpPr/>
          <p:nvPr/>
        </p:nvSpPr>
        <p:spPr>
          <a:xfrm>
            <a:off x="6803665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8518998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5"/>
          <p:cNvSpPr/>
          <p:nvPr/>
        </p:nvSpPr>
        <p:spPr>
          <a:xfrm>
            <a:off x="10234331" y="2692024"/>
            <a:ext cx="300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›</a:t>
            </a:r>
            <a:endParaRPr lang="es-MX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648247" y="2600768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08" name="Google Shape;408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1194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"/>
          <p:cNvSpPr/>
          <p:nvPr/>
        </p:nvSpPr>
        <p:spPr>
          <a:xfrm>
            <a:off x="125000" y="3253775"/>
            <a:ext cx="1650000" cy="44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Solicitud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Ciudadano</a:t>
            </a:r>
            <a:endParaRPr lang="es-MX" sz="900" dirty="0">
              <a:solidFill>
                <a:srgbClr val="B882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5"/>
          <p:cNvSpPr/>
          <p:nvPr/>
        </p:nvSpPr>
        <p:spPr>
          <a:xfrm>
            <a:off x="150000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2E7D46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5"/>
          <p:cNvSpPr/>
          <p:nvPr/>
        </p:nvSpPr>
        <p:spPr>
          <a:xfrm>
            <a:off x="2363581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2" name="Google Shape;41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6527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"/>
          <p:cNvSpPr/>
          <p:nvPr/>
        </p:nvSpPr>
        <p:spPr>
          <a:xfrm>
            <a:off x="1840333" y="3253775"/>
            <a:ext cx="1650000" cy="73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14" name="Google Shape;414;p5"/>
          <p:cNvSpPr/>
          <p:nvPr/>
        </p:nvSpPr>
        <p:spPr>
          <a:xfrm>
            <a:off x="1865333" y="4151654"/>
            <a:ext cx="1600000" cy="430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2E7D46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5"/>
          <p:cNvSpPr/>
          <p:nvPr/>
        </p:nvSpPr>
        <p:spPr>
          <a:xfrm>
            <a:off x="4078914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16" name="Google Shape;41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1860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"/>
          <p:cNvSpPr/>
          <p:nvPr/>
        </p:nvSpPr>
        <p:spPr>
          <a:xfrm>
            <a:off x="3555666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3580666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2E7D46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5"/>
          <p:cNvSpPr/>
          <p:nvPr/>
        </p:nvSpPr>
        <p:spPr>
          <a:xfrm>
            <a:off x="5794247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0" name="Google Shape;420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57193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"/>
          <p:cNvSpPr/>
          <p:nvPr/>
        </p:nvSpPr>
        <p:spPr>
          <a:xfrm>
            <a:off x="5270999" y="3253776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5"/>
          <p:cNvSpPr/>
          <p:nvPr/>
        </p:nvSpPr>
        <p:spPr>
          <a:xfrm>
            <a:off x="5295999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2E7D46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5"/>
          <p:cNvSpPr/>
          <p:nvPr/>
        </p:nvSpPr>
        <p:spPr>
          <a:xfrm>
            <a:off x="7509580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4" name="Google Shape;424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72526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"/>
          <p:cNvSpPr/>
          <p:nvPr/>
        </p:nvSpPr>
        <p:spPr>
          <a:xfrm>
            <a:off x="6986332" y="3253775"/>
            <a:ext cx="1650000" cy="73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 y emisión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dirty="0">
                <a:solidFill>
                  <a:srgbClr val="B8822A"/>
                </a:solidFill>
                <a:latin typeface="Montserrat" panose="00000500000000000000" pitchFamily="2" charset="0"/>
                <a:ea typeface="Calibri"/>
                <a:cs typeface="Calibri"/>
                <a:sym typeface="Calibri"/>
              </a:rPr>
              <a:t>Analista de Supervisión Comercial y Atención Ciudadana</a:t>
            </a:r>
          </a:p>
        </p:txBody>
      </p:sp>
      <p:sp>
        <p:nvSpPr>
          <p:cNvPr id="426" name="Google Shape;426;p5"/>
          <p:cNvSpPr/>
          <p:nvPr/>
        </p:nvSpPr>
        <p:spPr>
          <a:xfrm>
            <a:off x="7011332" y="4151654"/>
            <a:ext cx="1600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2E7D46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"/>
          <p:cNvSpPr/>
          <p:nvPr/>
        </p:nvSpPr>
        <p:spPr>
          <a:xfrm>
            <a:off x="9224913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28" name="Google Shape;428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87859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"/>
          <p:cNvSpPr/>
          <p:nvPr/>
        </p:nvSpPr>
        <p:spPr>
          <a:xfrm>
            <a:off x="8701665" y="3253776"/>
            <a:ext cx="1650000" cy="3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Timbrado CFDI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"/>
          <p:cNvSpPr/>
          <p:nvPr/>
        </p:nvSpPr>
        <p:spPr>
          <a:xfrm>
            <a:off x="8726665" y="4151654"/>
            <a:ext cx="16000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B8822A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"/>
          <p:cNvSpPr/>
          <p:nvPr/>
        </p:nvSpPr>
        <p:spPr>
          <a:xfrm>
            <a:off x="10940246" y="2590272"/>
            <a:ext cx="603504" cy="603504"/>
          </a:xfrm>
          <a:prstGeom prst="ellipse">
            <a:avLst/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32" name="Google Shape;432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03192" y="2753218"/>
            <a:ext cx="277612" cy="27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"/>
          <p:cNvSpPr/>
          <p:nvPr/>
        </p:nvSpPr>
        <p:spPr>
          <a:xfrm>
            <a:off x="10416998" y="3253775"/>
            <a:ext cx="1650000" cy="63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Entrega de factura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Calibri"/>
                <a:cs typeface="Calibri"/>
                <a:sym typeface="Montserrat"/>
              </a:rPr>
              <a:t>Y validación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dirty="0">
                <a:solidFill>
                  <a:schemeClr val="tx1"/>
                </a:solidFill>
                <a:latin typeface="Montserrat"/>
                <a:ea typeface="Calibri"/>
                <a:cs typeface="Calibri"/>
                <a:sym typeface="Montserrat"/>
              </a:rPr>
              <a:t>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10441998" y="4151654"/>
            <a:ext cx="1600000" cy="7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dirty="0">
                <a:solidFill>
                  <a:srgbClr val="B8822A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lang="es-MX"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"/>
          <p:cNvSpPr/>
          <p:nvPr/>
        </p:nvSpPr>
        <p:spPr>
          <a:xfrm>
            <a:off x="687445" y="5378947"/>
            <a:ext cx="1109472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3D0017"/>
                </a:solidFill>
                <a:latin typeface="Calibri"/>
                <a:ea typeface="Calibri"/>
                <a:cs typeface="Calibri"/>
                <a:sym typeface="Calibri"/>
              </a:rPr>
              <a:t>5 de 7 etapas ya operan en producción. El timbrado y la entrega de factura CFDI son el siguiente hito.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1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Acceso al sistema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Inicio de sesión institucional en SOAPAP, con validación de usuario y contraseña.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81488"/>
            <a:ext cx="8373112" cy="404038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2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Ventanilla de atención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Panel con el total de trámites por estado: en captura, aprobados, en cobro y finalizados.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83669"/>
            <a:ext cx="8373112" cy="40360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3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Nuevo trámite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Clasificación del trámite y datos del solicitante y del predio.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96759"/>
            <a:ext cx="8373112" cy="40098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4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Captura de documentos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Checklist de requisitos documentales por grupo, con carga de evidencias.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901122"/>
            <a:ext cx="8373112" cy="400111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5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Validación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Cruce manual de no adeudo con el sistema de ADP (OUC).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96759"/>
            <a:ext cx="8373112" cy="400984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6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Aprobación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Trámite aprobado; se estampa el plazo de pago para continuar con el cobro.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92396"/>
            <a:ext cx="8373112" cy="401857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7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Cobro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Registro de tarifa, forma de pago y si el ciudadano requiere factura.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88033"/>
            <a:ext cx="8373112" cy="4027296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3360" y="1183788"/>
            <a:ext cx="1480000" cy="380000"/>
          </a:xfrm>
          <a:prstGeom prst="roundRect">
            <a:avLst>
              <a:gd name="adj" fmla="val 50000"/>
            </a:avLst>
          </a:prstGeom>
          <a:solidFill>
            <a:srgbClr val="3D001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Paso 8 de 9</a:t>
            </a:r>
            <a:endParaRPr lang="es-MX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Emisión de constancia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El sistema genera el documento con folio único, código QR y hash de integridad.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97897"/>
            <a:ext cx="8373112" cy="4007568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"/>
          <p:cNvSpPr/>
          <p:nvPr/>
        </p:nvSpPr>
        <p:spPr>
          <a:xfrm>
            <a:off x="457200" y="2950000"/>
            <a:ext cx="21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57200" y="3260000"/>
            <a:ext cx="215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20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Entrega de la constancia</a:t>
            </a:r>
            <a:endParaRPr lang="es-MX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57200" y="4050000"/>
            <a:ext cx="21500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Constancia emitida y disponible para impresión o descarga; el ciudadano la valida con su folio y código QR.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E13CC6-42BE-4B29-9E39-B64F93DA1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3" y="2135179"/>
            <a:ext cx="6517476" cy="3124584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AF39CD7-5907-404D-B13A-F2E3F608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277" y="1988444"/>
            <a:ext cx="2666082" cy="3418053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Bitácora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Auditoría de acciones del sistema (rol TI): quién hizo qué, cuándo y en qué transición.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894667"/>
            <a:ext cx="8373112" cy="401402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457200" y="3050000"/>
            <a:ext cx="275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03 · CAPTURAS DEL SISTEMA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457200" y="3350000"/>
            <a:ext cx="27500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2800"/>
              <a:buFont typeface="Montserrat"/>
              <a:buNone/>
            </a:pPr>
            <a:r>
              <a:rPr lang="es-MX" sz="1800" b="1" dirty="0">
                <a:solidFill>
                  <a:srgbClr val="3D0017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</a:t>
            </a:r>
            <a:endParaRPr lang="es-MX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457200" y="4000000"/>
            <a:ext cx="2750000" cy="1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i="1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Parámetros configurables: vigencia, firmante y prefijo de oficio por tipo de constancia, etc.</a:t>
            </a:r>
            <a:endParaRPr lang="es-MX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BDA86A-1F59-437C-8770-F8EA7BEC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48" y="1901122"/>
            <a:ext cx="8373112" cy="400111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548640" y="123378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822A"/>
              </a:buClr>
              <a:buSzPts val="1200"/>
              <a:buFont typeface="Montserrat"/>
              <a:buNone/>
            </a:pPr>
            <a:r>
              <a:rPr lang="es-MX" sz="1200" b="1" dirty="0">
                <a:solidFill>
                  <a:srgbClr val="B8822A"/>
                </a:solidFill>
                <a:latin typeface="Montserrat"/>
                <a:ea typeface="Montserrat"/>
                <a:cs typeface="Montserrat"/>
                <a:sym typeface="Montserrat"/>
              </a:rPr>
              <a:t>04 · Integraciones futuras</a:t>
            </a:r>
            <a:endParaRPr lang="es-MX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48640" y="1508108"/>
            <a:ext cx="11094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Montserrat"/>
              <a:buNone/>
            </a:pPr>
            <a:r>
              <a:rPr lang="es-MX" sz="2800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INTERCONEXIÓN SOAPAP – CONCESIONES INTEGRALES </a:t>
            </a:r>
            <a:endParaRPr lang="es-MX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548640" y="2337262"/>
            <a:ext cx="3840480" cy="19787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 cap="flat" cmpd="sng">
            <a:solidFill>
              <a:srgbClr val="E6E1E3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381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/>
          </a:p>
        </p:txBody>
      </p:sp>
      <p:sp>
        <p:nvSpPr>
          <p:cNvPr id="354" name="Google Shape;354;p6"/>
          <p:cNvSpPr/>
          <p:nvPr/>
        </p:nvSpPr>
        <p:spPr>
          <a:xfrm>
            <a:off x="1236818" y="2611582"/>
            <a:ext cx="263109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D0017"/>
              </a:buClr>
              <a:buSzPts val="1500"/>
              <a:buFont typeface="Montserrat"/>
              <a:buNone/>
            </a:pPr>
            <a:r>
              <a:rPr lang="es-MX" sz="1500" b="1" dirty="0">
                <a:solidFill>
                  <a:srgbClr val="3D0017"/>
                </a:solidFill>
                <a:latin typeface="Montserrat"/>
                <a:ea typeface="Calibri"/>
                <a:cs typeface="Calibri"/>
                <a:sym typeface="Montserrat"/>
              </a:rPr>
              <a:t>Validaciones automáticas</a:t>
            </a:r>
            <a:endParaRPr lang="es-MX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841248" y="3288238"/>
            <a:ext cx="3026664" cy="8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44245"/>
              </a:buClr>
              <a:buSzPts val="1250"/>
              <a:buFont typeface="Calibri"/>
              <a:buNone/>
            </a:pPr>
            <a:r>
              <a:rPr lang="es-MX" sz="1250" dirty="0">
                <a:solidFill>
                  <a:srgbClr val="544245"/>
                </a:solidFill>
                <a:latin typeface="Calibri"/>
                <a:ea typeface="Calibri"/>
                <a:cs typeface="Calibri"/>
                <a:sym typeface="Calibri"/>
              </a:rPr>
              <a:t>Conectar el módulo de constancias con el sistema de gestión comercial de Concesiones Integrales, para omitir pasos fuera del sistema </a:t>
            </a:r>
            <a:endParaRPr lang="es-MX" sz="1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420;p5" descr="preencoded.png">
            <a:extLst>
              <a:ext uri="{FF2B5EF4-FFF2-40B4-BE49-F238E27FC236}">
                <a16:creationId xmlns:a16="http://schemas.microsoft.com/office/drawing/2014/main" id="{47B845BC-88B3-4B8D-AF42-D5EA85AE0F3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1248" y="2755393"/>
            <a:ext cx="277612" cy="27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APA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523</Words>
  <Application>Microsoft Office PowerPoint</Application>
  <PresentationFormat>Panorámica</PresentationFormat>
  <Paragraphs>87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Calibri</vt:lpstr>
      <vt:lpstr>Montserrat</vt:lpstr>
      <vt:lpstr>Arial</vt:lpstr>
      <vt:lpstr>SOAPAP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SOAPAP — Departamento de Informática</dc:creator>
  <cp:lastModifiedBy>Plataforma_03</cp:lastModifiedBy>
  <cp:revision>22</cp:revision>
  <dcterms:created xsi:type="dcterms:W3CDTF">2026-06-29T07:33:55Z</dcterms:created>
  <dcterms:modified xsi:type="dcterms:W3CDTF">2026-07-30T23:48:53Z</dcterms:modified>
</cp:coreProperties>
</file>